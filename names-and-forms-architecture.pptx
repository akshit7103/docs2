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91440"/>
            <a:ext cx="11951208" cy="667512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55448"/>
            <a:ext cx="1164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Names and Forms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0896" y="566928"/>
            <a:ext cx="1298448" cy="542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4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 &amp; SOURCES</a:t>
            </a:r>
            <a:endParaRPr lang="en-US" sz="74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(External)</a:t>
            </a:r>
            <a:endParaRPr lang="en-US" sz="740" dirty="0"/>
          </a:p>
        </p:txBody>
      </p:sp>
      <p:sp>
        <p:nvSpPr>
          <p:cNvPr id="5" name="Text 3"/>
          <p:cNvSpPr/>
          <p:nvPr/>
        </p:nvSpPr>
        <p:spPr>
          <a:xfrm>
            <a:off x="1682496" y="566928"/>
            <a:ext cx="658368" cy="19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4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TYPE:</a:t>
            </a:r>
            <a:endParaRPr lang="en-US" sz="640" dirty="0"/>
          </a:p>
        </p:txBody>
      </p:sp>
      <p:sp>
        <p:nvSpPr>
          <p:cNvPr id="6" name="Text 4"/>
          <p:cNvSpPr/>
          <p:nvPr/>
        </p:nvSpPr>
        <p:spPr>
          <a:xfrm>
            <a:off x="2386584" y="566928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body</a:t>
            </a:r>
            <a:endParaRPr lang="en-US" sz="690" dirty="0"/>
          </a:p>
        </p:txBody>
      </p:sp>
      <p:sp>
        <p:nvSpPr>
          <p:cNvPr id="7" name="Text 5"/>
          <p:cNvSpPr/>
          <p:nvPr/>
        </p:nvSpPr>
        <p:spPr>
          <a:xfrm>
            <a:off x="3553968" y="566928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</a:t>
            </a: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4721352" y="566928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690" dirty="0"/>
          </a:p>
        </p:txBody>
      </p:sp>
      <p:sp>
        <p:nvSpPr>
          <p:cNvPr id="9" name="Text 7"/>
          <p:cNvSpPr/>
          <p:nvPr/>
        </p:nvSpPr>
        <p:spPr>
          <a:xfrm>
            <a:off x="5888736" y="566928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/ XML</a:t>
            </a:r>
            <a:endParaRPr lang="en-US" sz="690" dirty="0"/>
          </a:p>
        </p:txBody>
      </p:sp>
      <p:sp>
        <p:nvSpPr>
          <p:cNvPr id="10" name="Text 8"/>
          <p:cNvSpPr/>
          <p:nvPr/>
        </p:nvSpPr>
        <p:spPr>
          <a:xfrm>
            <a:off x="7056120" y="566928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Screen-print / Image</a:t>
            </a:r>
            <a:endParaRPr lang="en-US" sz="690" dirty="0"/>
          </a:p>
        </p:txBody>
      </p:sp>
      <p:sp>
        <p:nvSpPr>
          <p:cNvPr id="11" name="Text 9"/>
          <p:cNvSpPr/>
          <p:nvPr/>
        </p:nvSpPr>
        <p:spPr>
          <a:xfrm>
            <a:off x="8223504" y="566928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 / MT</a:t>
            </a:r>
            <a:endParaRPr lang="en-US" sz="690" dirty="0"/>
          </a:p>
        </p:txBody>
      </p:sp>
      <p:sp>
        <p:nvSpPr>
          <p:cNvPr id="12" name="Text 10"/>
          <p:cNvSpPr/>
          <p:nvPr/>
        </p:nvSpPr>
        <p:spPr>
          <a:xfrm>
            <a:off x="1682496" y="796860"/>
            <a:ext cx="658368" cy="193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4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ORIGIN: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2386584" y="796860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OTC</a:t>
            </a: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3553968" y="796860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FX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4721352" y="796860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Settlements</a:t>
            </a:r>
            <a:endParaRPr lang="en-US" sz="690" dirty="0"/>
          </a:p>
        </p:txBody>
      </p:sp>
      <p:sp>
        <p:nvSpPr>
          <p:cNvPr id="16" name="Text 14"/>
          <p:cNvSpPr/>
          <p:nvPr/>
        </p:nvSpPr>
        <p:spPr>
          <a:xfrm>
            <a:off x="5888736" y="796860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Data</a:t>
            </a:r>
            <a:endParaRPr lang="en-US" sz="690" dirty="0"/>
          </a:p>
        </p:txBody>
      </p:sp>
      <p:sp>
        <p:nvSpPr>
          <p:cNvPr id="17" name="Text 15"/>
          <p:cNvSpPr/>
          <p:nvPr/>
        </p:nvSpPr>
        <p:spPr>
          <a:xfrm>
            <a:off x="7056120" y="796860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OTC ADM</a:t>
            </a:r>
            <a:endParaRPr lang="en-US" sz="690" dirty="0"/>
          </a:p>
        </p:txBody>
      </p:sp>
      <p:sp>
        <p:nvSpPr>
          <p:cNvPr id="18" name="Text 16"/>
          <p:cNvSpPr/>
          <p:nvPr/>
        </p:nvSpPr>
        <p:spPr>
          <a:xfrm>
            <a:off x="8223504" y="796860"/>
            <a:ext cx="1103376" cy="193356"/>
          </a:xfrm>
          <a:prstGeom prst="roundRect">
            <a:avLst>
              <a:gd name="adj" fmla="val 18916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 +N processors</a:t>
            </a:r>
            <a:endParaRPr lang="en-US" sz="690" dirty="0"/>
          </a:p>
        </p:txBody>
      </p:sp>
      <p:sp>
        <p:nvSpPr>
          <p:cNvPr id="19" name="Text 17"/>
          <p:cNvSpPr/>
          <p:nvPr/>
        </p:nvSpPr>
        <p:spPr>
          <a:xfrm>
            <a:off x="1682496" y="990216"/>
            <a:ext cx="7644384" cy="1193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8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1,500+ shared mailboxes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310896" y="1130179"/>
            <a:ext cx="9015984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82496" y="1150753"/>
            <a:ext cx="7644384" cy="110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6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Graph API / IntegrationHub — scheduled pull</a:t>
            </a:r>
            <a:endParaRPr lang="en-US" sz="660" dirty="0"/>
          </a:p>
        </p:txBody>
      </p:sp>
      <p:sp>
        <p:nvSpPr>
          <p:cNvPr id="22" name="Shape 20"/>
          <p:cNvSpPr/>
          <p:nvPr/>
        </p:nvSpPr>
        <p:spPr>
          <a:xfrm>
            <a:off x="5504688" y="1267661"/>
            <a:ext cx="0" cy="80626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0896" y="1372892"/>
            <a:ext cx="9015984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1393466"/>
            <a:ext cx="1298448" cy="449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4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INGESTION &amp; ROUTING</a:t>
            </a:r>
            <a:endParaRPr lang="en-US" sz="74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(Scale)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1682496" y="1393466"/>
            <a:ext cx="1664208" cy="328242"/>
          </a:xfrm>
          <a:prstGeom prst="roundRect">
            <a:avLst>
              <a:gd name="adj" fmla="val 13929"/>
            </a:avLst>
          </a:prstGeom>
          <a:solidFill>
            <a:srgbClr val="EDF6F7"/>
          </a:solidFill>
          <a:ln w="13970">
            <a:solidFill>
              <a:srgbClr val="158A90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/ Staging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temporary, audited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3392424" y="1557587"/>
            <a:ext cx="237744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675888" y="1393466"/>
            <a:ext cx="1664208" cy="328242"/>
          </a:xfrm>
          <a:prstGeom prst="roundRect">
            <a:avLst>
              <a:gd name="adj" fmla="val 13929"/>
            </a:avLst>
          </a:prstGeom>
          <a:solidFill>
            <a:srgbClr val="EDF6F7"/>
          </a:solidFill>
          <a:ln w="13970">
            <a:solidFill>
              <a:srgbClr val="158A90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Balancer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5385816" y="1557587"/>
            <a:ext cx="237744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669280" y="1393466"/>
            <a:ext cx="1664208" cy="328242"/>
          </a:xfrm>
          <a:prstGeom prst="roundRect">
            <a:avLst>
              <a:gd name="adj" fmla="val 13929"/>
            </a:avLst>
          </a:prstGeom>
          <a:solidFill>
            <a:srgbClr val="EDF6F7"/>
          </a:solidFill>
          <a:ln w="13970">
            <a:solidFill>
              <a:srgbClr val="158A90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Controller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throttle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7379208" y="1557587"/>
            <a:ext cx="237744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662672" y="1393466"/>
            <a:ext cx="1664208" cy="328242"/>
          </a:xfrm>
          <a:prstGeom prst="roundRect">
            <a:avLst>
              <a:gd name="adj" fmla="val 13929"/>
            </a:avLst>
          </a:prstGeom>
          <a:solidFill>
            <a:srgbClr val="EDF6F7"/>
          </a:solidFill>
          <a:ln w="13970">
            <a:solidFill>
              <a:srgbClr val="158A90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intake workers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containers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1682496" y="1721708"/>
            <a:ext cx="7644384" cy="12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8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early by mailbox + system metadata — no serial bottleneck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310896" y="1863686"/>
            <a:ext cx="9015984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1884260"/>
            <a:ext cx="1298448" cy="57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4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&amp; THE FUNNEL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1682496" y="1957692"/>
            <a:ext cx="3353084" cy="312086"/>
          </a:xfrm>
          <a:prstGeom prst="roundRect">
            <a:avLst>
              <a:gd name="adj" fmla="val 14650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(keywords + context) + AI classifier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5090444" y="2113735"/>
            <a:ext cx="237744" cy="0"/>
          </a:xfrm>
          <a:prstGeom prst="line">
            <a:avLst/>
          </a:prstGeom>
          <a:noFill/>
          <a:ln w="14605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383052" y="1930155"/>
            <a:ext cx="402336" cy="367159"/>
          </a:xfrm>
          <a:prstGeom prst="funnel">
            <a:avLst/>
          </a:prstGeom>
          <a:solidFill>
            <a:srgbClr val="2E8B57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40252" y="1884260"/>
            <a:ext cx="2654524" cy="206615"/>
          </a:xfrm>
          <a:prstGeom prst="roundRect">
            <a:avLst>
              <a:gd name="adj" fmla="val 22128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In-scope → proceed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5840252" y="2136595"/>
            <a:ext cx="2654524" cy="206615"/>
          </a:xfrm>
          <a:prstGeom prst="roundRect">
            <a:avLst>
              <a:gd name="adj" fmla="val 22128"/>
            </a:avLst>
          </a:prstGeom>
          <a:solidFill>
            <a:srgbClr val="FDEFF1"/>
          </a:solidFill>
          <a:ln w="13970">
            <a:solidFill>
              <a:srgbClr val="CF2A3F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B11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Out-of-scope → Exception queue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tagged, audited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8549640" y="1884260"/>
            <a:ext cx="777240" cy="458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6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drops —</a:t>
            </a:r>
            <a:endParaRPr lang="en-US" sz="6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6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in = N</a:t>
            </a:r>
            <a:endParaRPr lang="en-US" sz="6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6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accounted for</a:t>
            </a:r>
            <a:endParaRPr lang="en-US" sz="660" dirty="0"/>
          </a:p>
        </p:txBody>
      </p:sp>
      <p:sp>
        <p:nvSpPr>
          <p:cNvPr id="41" name="Text 39"/>
          <p:cNvSpPr/>
          <p:nvPr/>
        </p:nvSpPr>
        <p:spPr>
          <a:xfrm>
            <a:off x="1682496" y="2343210"/>
            <a:ext cx="7644384" cy="114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8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~4,500 ingested   →   ~400 in-scope   ·   ~4,100 → exception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310896" y="2478521"/>
            <a:ext cx="9015984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" y="2499095"/>
            <a:ext cx="1298448" cy="496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4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 CORE = CONFIG + CLASSIFICATION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1682496" y="2499095"/>
            <a:ext cx="1847193" cy="387006"/>
          </a:xfrm>
          <a:prstGeom prst="roundRect">
            <a:avLst>
              <a:gd name="adj" fmla="val 11814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Wizard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work-driver: processor + work-driver key, fields, rules, mapping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3575409" y="2692598"/>
            <a:ext cx="219456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3840585" y="2499095"/>
            <a:ext cx="1551642" cy="387006"/>
          </a:xfrm>
          <a:prstGeom prst="roundRect">
            <a:avLst>
              <a:gd name="adj" fmla="val 11814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 / Prompt-Standardiser</a:t>
            </a:r>
            <a:endParaRPr lang="en-US" sz="54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AI: free-text → standardised config</a:t>
            </a:r>
            <a:endParaRPr lang="en-US" sz="540" dirty="0"/>
          </a:p>
        </p:txBody>
      </p:sp>
      <p:sp>
        <p:nvSpPr>
          <p:cNvPr id="47" name="Shape 45"/>
          <p:cNvSpPr/>
          <p:nvPr/>
        </p:nvSpPr>
        <p:spPr>
          <a:xfrm>
            <a:off x="5437947" y="2692598"/>
            <a:ext cx="219456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703123" y="2584236"/>
            <a:ext cx="182880" cy="216723"/>
          </a:xfrm>
          <a:prstGeom prst="can">
            <a:avLst/>
          </a:prstGeom>
          <a:solidFill>
            <a:srgbClr val="2E8B57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31723" y="2499095"/>
            <a:ext cx="1773305" cy="387006"/>
          </a:xfrm>
          <a:prstGeom prst="roundRect">
            <a:avLst>
              <a:gd name="adj" fmla="val 11814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Config + Metadata Store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accessed in parallel by all containers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7750749" y="2692598"/>
            <a:ext cx="274320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triangl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8070789" y="2499095"/>
            <a:ext cx="1256091" cy="387006"/>
          </a:xfrm>
          <a:prstGeom prst="roundRect">
            <a:avLst>
              <a:gd name="adj" fmla="val 11814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Tables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routing, tolerances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1682496" y="2886101"/>
            <a:ext cx="7644384" cy="109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8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 + Classification = Orchestration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310896" y="3015830"/>
            <a:ext cx="9015984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3036404"/>
            <a:ext cx="1298448" cy="60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4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WORK-DRIVER CONTAINERS</a:t>
            </a:r>
            <a:endParaRPr lang="en-US" sz="74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(Scale)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682496" y="3036404"/>
            <a:ext cx="7644384" cy="114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8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isolated, load-balanced container per work-driver — scales to ~800+ work-drivers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1682496" y="3151297"/>
            <a:ext cx="1751076" cy="374912"/>
          </a:xfrm>
          <a:prstGeom prst="roundRect">
            <a:avLst>
              <a:gd name="adj" fmla="val 12195"/>
            </a:avLst>
          </a:prstGeom>
          <a:solidFill>
            <a:srgbClr val="EDF6F7"/>
          </a:solidFill>
          <a:ln w="14605">
            <a:solidFill>
              <a:srgbClr val="158A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82496" y="3169585"/>
            <a:ext cx="1751076" cy="149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2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OTC · PCM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1728216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540" dirty="0"/>
          </a:p>
        </p:txBody>
      </p:sp>
      <p:sp>
        <p:nvSpPr>
          <p:cNvPr id="59" name="Text 57"/>
          <p:cNvSpPr/>
          <p:nvPr/>
        </p:nvSpPr>
        <p:spPr>
          <a:xfrm>
            <a:off x="2151126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&amp; Match</a:t>
            </a:r>
            <a:endParaRPr lang="en-US" sz="540" dirty="0"/>
          </a:p>
        </p:txBody>
      </p:sp>
      <p:sp>
        <p:nvSpPr>
          <p:cNvPr id="60" name="Text 58"/>
          <p:cNvSpPr/>
          <p:nvPr/>
        </p:nvSpPr>
        <p:spPr>
          <a:xfrm>
            <a:off x="2574036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540" dirty="0"/>
          </a:p>
        </p:txBody>
      </p:sp>
      <p:sp>
        <p:nvSpPr>
          <p:cNvPr id="61" name="Text 59"/>
          <p:cNvSpPr/>
          <p:nvPr/>
        </p:nvSpPr>
        <p:spPr>
          <a:xfrm>
            <a:off x="2996946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540" dirty="0"/>
          </a:p>
        </p:txBody>
      </p:sp>
      <p:sp>
        <p:nvSpPr>
          <p:cNvPr id="62" name="Shape 60"/>
          <p:cNvSpPr/>
          <p:nvPr/>
        </p:nvSpPr>
        <p:spPr>
          <a:xfrm>
            <a:off x="3515868" y="3151297"/>
            <a:ext cx="1751076" cy="374912"/>
          </a:xfrm>
          <a:prstGeom prst="roundRect">
            <a:avLst>
              <a:gd name="adj" fmla="val 12195"/>
            </a:avLst>
          </a:prstGeom>
          <a:solidFill>
            <a:srgbClr val="EDF6F7"/>
          </a:solidFill>
          <a:ln w="14605">
            <a:solidFill>
              <a:srgbClr val="158A9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15868" y="3169585"/>
            <a:ext cx="1751076" cy="149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2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FX · PCM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3561588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540" dirty="0"/>
          </a:p>
        </p:txBody>
      </p:sp>
      <p:sp>
        <p:nvSpPr>
          <p:cNvPr id="65" name="Text 63"/>
          <p:cNvSpPr/>
          <p:nvPr/>
        </p:nvSpPr>
        <p:spPr>
          <a:xfrm>
            <a:off x="3984498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&amp; Match</a:t>
            </a:r>
            <a:endParaRPr lang="en-US" sz="540" dirty="0"/>
          </a:p>
        </p:txBody>
      </p:sp>
      <p:sp>
        <p:nvSpPr>
          <p:cNvPr id="66" name="Text 64"/>
          <p:cNvSpPr/>
          <p:nvPr/>
        </p:nvSpPr>
        <p:spPr>
          <a:xfrm>
            <a:off x="4407408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540" dirty="0"/>
          </a:p>
        </p:txBody>
      </p:sp>
      <p:sp>
        <p:nvSpPr>
          <p:cNvPr id="67" name="Text 65"/>
          <p:cNvSpPr/>
          <p:nvPr/>
        </p:nvSpPr>
        <p:spPr>
          <a:xfrm>
            <a:off x="4830318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540" dirty="0"/>
          </a:p>
        </p:txBody>
      </p:sp>
      <p:sp>
        <p:nvSpPr>
          <p:cNvPr id="68" name="Shape 66"/>
          <p:cNvSpPr/>
          <p:nvPr/>
        </p:nvSpPr>
        <p:spPr>
          <a:xfrm>
            <a:off x="5349240" y="3151297"/>
            <a:ext cx="1751076" cy="374912"/>
          </a:xfrm>
          <a:prstGeom prst="roundRect">
            <a:avLst>
              <a:gd name="adj" fmla="val 12195"/>
            </a:avLst>
          </a:prstGeom>
          <a:solidFill>
            <a:srgbClr val="EDF6F7"/>
          </a:solidFill>
          <a:ln w="14605">
            <a:solidFill>
              <a:srgbClr val="158A9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49240" y="3169585"/>
            <a:ext cx="1751076" cy="149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2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Set · LOS</a:t>
            </a: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5394960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540" dirty="0"/>
          </a:p>
        </p:txBody>
      </p:sp>
      <p:sp>
        <p:nvSpPr>
          <p:cNvPr id="71" name="Text 69"/>
          <p:cNvSpPr/>
          <p:nvPr/>
        </p:nvSpPr>
        <p:spPr>
          <a:xfrm>
            <a:off x="5817870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&amp; Match</a:t>
            </a:r>
            <a:endParaRPr lang="en-US" sz="540" dirty="0"/>
          </a:p>
        </p:txBody>
      </p:sp>
      <p:sp>
        <p:nvSpPr>
          <p:cNvPr id="72" name="Text 70"/>
          <p:cNvSpPr/>
          <p:nvPr/>
        </p:nvSpPr>
        <p:spPr>
          <a:xfrm>
            <a:off x="6240780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540" dirty="0"/>
          </a:p>
        </p:txBody>
      </p:sp>
      <p:sp>
        <p:nvSpPr>
          <p:cNvPr id="73" name="Text 71"/>
          <p:cNvSpPr/>
          <p:nvPr/>
        </p:nvSpPr>
        <p:spPr>
          <a:xfrm>
            <a:off x="6663690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540" dirty="0"/>
          </a:p>
        </p:txBody>
      </p:sp>
      <p:sp>
        <p:nvSpPr>
          <p:cNvPr id="74" name="Shape 72"/>
          <p:cNvSpPr/>
          <p:nvPr/>
        </p:nvSpPr>
        <p:spPr>
          <a:xfrm>
            <a:off x="7182612" y="3151297"/>
            <a:ext cx="1751076" cy="374912"/>
          </a:xfrm>
          <a:prstGeom prst="roundRect">
            <a:avLst>
              <a:gd name="adj" fmla="val 12195"/>
            </a:avLst>
          </a:prstGeom>
          <a:solidFill>
            <a:srgbClr val="EDF6F7"/>
          </a:solidFill>
          <a:ln w="14605">
            <a:solidFill>
              <a:srgbClr val="158A9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82612" y="3169585"/>
            <a:ext cx="1751076" cy="149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2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· MIS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7228332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540" dirty="0"/>
          </a:p>
        </p:txBody>
      </p:sp>
      <p:sp>
        <p:nvSpPr>
          <p:cNvPr id="77" name="Text 75"/>
          <p:cNvSpPr/>
          <p:nvPr/>
        </p:nvSpPr>
        <p:spPr>
          <a:xfrm>
            <a:off x="7651242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&amp; Match</a:t>
            </a:r>
            <a:endParaRPr lang="en-US" sz="540" dirty="0"/>
          </a:p>
        </p:txBody>
      </p:sp>
      <p:sp>
        <p:nvSpPr>
          <p:cNvPr id="78" name="Text 76"/>
          <p:cNvSpPr/>
          <p:nvPr/>
        </p:nvSpPr>
        <p:spPr>
          <a:xfrm>
            <a:off x="8074152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540" dirty="0"/>
          </a:p>
        </p:txBody>
      </p:sp>
      <p:sp>
        <p:nvSpPr>
          <p:cNvPr id="79" name="Text 77"/>
          <p:cNvSpPr/>
          <p:nvPr/>
        </p:nvSpPr>
        <p:spPr>
          <a:xfrm>
            <a:off x="8497062" y="3310406"/>
            <a:ext cx="390906" cy="170083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540" dirty="0"/>
          </a:p>
        </p:txBody>
      </p:sp>
      <p:sp>
        <p:nvSpPr>
          <p:cNvPr id="80" name="Text 78"/>
          <p:cNvSpPr/>
          <p:nvPr/>
        </p:nvSpPr>
        <p:spPr>
          <a:xfrm>
            <a:off x="9015984" y="3151297"/>
            <a:ext cx="310896" cy="3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58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•••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1682496" y="3526209"/>
            <a:ext cx="7644384" cy="114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8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capabilities plug into each container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310896" y="3661675"/>
            <a:ext cx="9015984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0896" y="3682249"/>
            <a:ext cx="1298448" cy="449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4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 STACK / MARKETPLACE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1682496" y="3682249"/>
            <a:ext cx="1828800" cy="332738"/>
          </a:xfrm>
          <a:prstGeom prst="roundRect">
            <a:avLst>
              <a:gd name="adj" fmla="val 1374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</a:t>
            </a:r>
            <a:endParaRPr lang="en-US" sz="54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Unstructured → Structured: body + Excel</a:t>
            </a:r>
            <a:endParaRPr lang="en-US" sz="540" dirty="0"/>
          </a:p>
        </p:txBody>
      </p:sp>
      <p:sp>
        <p:nvSpPr>
          <p:cNvPr id="85" name="Text 83"/>
          <p:cNvSpPr/>
          <p:nvPr/>
        </p:nvSpPr>
        <p:spPr>
          <a:xfrm>
            <a:off x="3621024" y="3682249"/>
            <a:ext cx="1828800" cy="332738"/>
          </a:xfrm>
          <a:prstGeom prst="roundRect">
            <a:avLst>
              <a:gd name="adj" fmla="val 1374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&amp; Match — × N instances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PCM, LOS, Confirmation …</a:t>
            </a:r>
            <a:endParaRPr lang="en-US" sz="760" dirty="0"/>
          </a:p>
        </p:txBody>
      </p:sp>
      <p:sp>
        <p:nvSpPr>
          <p:cNvPr id="86" name="Text 84"/>
          <p:cNvSpPr/>
          <p:nvPr/>
        </p:nvSpPr>
        <p:spPr>
          <a:xfrm>
            <a:off x="5559552" y="3682249"/>
            <a:ext cx="1828800" cy="332738"/>
          </a:xfrm>
          <a:prstGeom prst="roundRect">
            <a:avLst>
              <a:gd name="adj" fmla="val 1374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760" dirty="0"/>
          </a:p>
        </p:txBody>
      </p:sp>
      <p:sp>
        <p:nvSpPr>
          <p:cNvPr id="87" name="Text 85"/>
          <p:cNvSpPr/>
          <p:nvPr/>
        </p:nvSpPr>
        <p:spPr>
          <a:xfrm>
            <a:off x="7498080" y="3682249"/>
            <a:ext cx="1828800" cy="332738"/>
          </a:xfrm>
          <a:prstGeom prst="roundRect">
            <a:avLst>
              <a:gd name="adj" fmla="val 1374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/ MIS</a:t>
            </a:r>
            <a:endParaRPr lang="en-US" sz="760" dirty="0"/>
          </a:p>
        </p:txBody>
      </p:sp>
      <p:sp>
        <p:nvSpPr>
          <p:cNvPr id="88" name="Text 86"/>
          <p:cNvSpPr/>
          <p:nvPr/>
        </p:nvSpPr>
        <p:spPr>
          <a:xfrm>
            <a:off x="1682496" y="4014987"/>
            <a:ext cx="7644384" cy="11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8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capabilities from a Capability Marketplace — configured per work-driver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310896" y="4152469"/>
            <a:ext cx="9015984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96896" y="4182187"/>
            <a:ext cx="0" cy="113505"/>
          </a:xfrm>
          <a:prstGeom prst="line">
            <a:avLst/>
          </a:prstGeom>
          <a:noFill/>
          <a:ln w="12700">
            <a:solidFill>
              <a:srgbClr val="6D3FC4"/>
            </a:solidFill>
            <a:prstDash val="dash"/>
            <a:headEnd type="triangle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4535424" y="4182187"/>
            <a:ext cx="0" cy="113505"/>
          </a:xfrm>
          <a:prstGeom prst="line">
            <a:avLst/>
          </a:prstGeom>
          <a:noFill/>
          <a:ln w="12700">
            <a:solidFill>
              <a:srgbClr val="6D3FC4"/>
            </a:solidFill>
            <a:prstDash val="dash"/>
            <a:headEnd type="triangle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6473952" y="4182187"/>
            <a:ext cx="0" cy="113505"/>
          </a:xfrm>
          <a:prstGeom prst="line">
            <a:avLst/>
          </a:prstGeom>
          <a:noFill/>
          <a:ln w="12700">
            <a:solidFill>
              <a:srgbClr val="6D3FC4"/>
            </a:solidFill>
            <a:prstDash val="dash"/>
            <a:headEnd type="triangle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8412480" y="4182187"/>
            <a:ext cx="0" cy="113505"/>
          </a:xfrm>
          <a:prstGeom prst="line">
            <a:avLst/>
          </a:prstGeom>
          <a:noFill/>
          <a:ln w="12700">
            <a:solidFill>
              <a:srgbClr val="6D3FC4"/>
            </a:solidFill>
            <a:prstDash val="dash"/>
            <a:headEnd type="triangle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310896" y="4325410"/>
            <a:ext cx="9015984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0896" y="4345984"/>
            <a:ext cx="1298448" cy="27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4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SERVICES</a:t>
            </a:r>
            <a:endParaRPr lang="en-US" sz="740" dirty="0"/>
          </a:p>
        </p:txBody>
      </p:sp>
      <p:sp>
        <p:nvSpPr>
          <p:cNvPr id="96" name="Text 94"/>
          <p:cNvSpPr/>
          <p:nvPr/>
        </p:nvSpPr>
        <p:spPr>
          <a:xfrm>
            <a:off x="1682496" y="4345984"/>
            <a:ext cx="1828800" cy="279091"/>
          </a:xfrm>
          <a:prstGeom prst="roundRect">
            <a:avLst>
              <a:gd name="adj" fmla="val 16382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Assist Skill Kit (NASK) skills</a:t>
            </a:r>
            <a:endParaRPr lang="en-US" sz="540" dirty="0"/>
          </a:p>
        </p:txBody>
      </p:sp>
      <p:sp>
        <p:nvSpPr>
          <p:cNvPr id="97" name="Text 95"/>
          <p:cNvSpPr/>
          <p:nvPr/>
        </p:nvSpPr>
        <p:spPr>
          <a:xfrm>
            <a:off x="3621024" y="4345984"/>
            <a:ext cx="1828800" cy="279091"/>
          </a:xfrm>
          <a:prstGeom prst="roundRect">
            <a:avLst>
              <a:gd name="adj" fmla="val 16382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Chinou API (LLM)</a:t>
            </a:r>
            <a:endParaRPr lang="en-US" sz="540" dirty="0"/>
          </a:p>
        </p:txBody>
      </p:sp>
      <p:sp>
        <p:nvSpPr>
          <p:cNvPr id="98" name="Text 96"/>
          <p:cNvSpPr/>
          <p:nvPr/>
        </p:nvSpPr>
        <p:spPr>
          <a:xfrm>
            <a:off x="5559552" y="4345984"/>
            <a:ext cx="1828800" cy="279091"/>
          </a:xfrm>
          <a:prstGeom prst="roundRect">
            <a:avLst>
              <a:gd name="adj" fmla="val 16382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matching: Deterministic + Fuzzy + Policy</a:t>
            </a:r>
            <a:endParaRPr lang="en-US" sz="540" dirty="0"/>
          </a:p>
        </p:txBody>
      </p:sp>
      <p:sp>
        <p:nvSpPr>
          <p:cNvPr id="99" name="Text 97"/>
          <p:cNvSpPr/>
          <p:nvPr/>
        </p:nvSpPr>
        <p:spPr>
          <a:xfrm>
            <a:off x="7498080" y="4345984"/>
            <a:ext cx="1828800" cy="279091"/>
          </a:xfrm>
          <a:prstGeom prst="roundRect">
            <a:avLst>
              <a:gd name="adj" fmla="val 16382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+ Grounding</a:t>
            </a:r>
            <a:endParaRPr lang="en-US" sz="540" dirty="0"/>
          </a:p>
        </p:txBody>
      </p:sp>
      <p:sp>
        <p:nvSpPr>
          <p:cNvPr id="100" name="Shape 98"/>
          <p:cNvSpPr/>
          <p:nvPr/>
        </p:nvSpPr>
        <p:spPr>
          <a:xfrm>
            <a:off x="310896" y="4645649"/>
            <a:ext cx="9015984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10896" y="4666223"/>
            <a:ext cx="1298448" cy="310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40" b="1" spc="30" kern="0" dirty="0">
                <a:solidFill>
                  <a:srgbClr val="C17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 &amp; WORKSPACES</a:t>
            </a:r>
            <a:endParaRPr lang="en-US" sz="740" dirty="0"/>
          </a:p>
        </p:txBody>
      </p:sp>
      <p:sp>
        <p:nvSpPr>
          <p:cNvPr id="102" name="Text 100"/>
          <p:cNvSpPr/>
          <p:nvPr/>
        </p:nvSpPr>
        <p:spPr>
          <a:xfrm>
            <a:off x="1682496" y="4666223"/>
            <a:ext cx="2190044" cy="310101"/>
          </a:xfrm>
          <a:prstGeom prst="roundRect">
            <a:avLst>
              <a:gd name="adj" fmla="val 14744"/>
            </a:avLst>
          </a:prstGeom>
          <a:solidFill>
            <a:srgbClr val="FDF4E8"/>
          </a:solidFill>
          <a:ln w="13970">
            <a:solidFill>
              <a:srgbClr val="E0891E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B16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Assignment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— per-profile queues: OTC vs ADM</a:t>
            </a:r>
            <a:endParaRPr lang="en-US" sz="760" dirty="0"/>
          </a:p>
        </p:txBody>
      </p:sp>
      <p:sp>
        <p:nvSpPr>
          <p:cNvPr id="103" name="Shape 101"/>
          <p:cNvSpPr/>
          <p:nvPr/>
        </p:nvSpPr>
        <p:spPr>
          <a:xfrm>
            <a:off x="3954836" y="4821273"/>
            <a:ext cx="219456" cy="0"/>
          </a:xfrm>
          <a:prstGeom prst="line">
            <a:avLst/>
          </a:prstGeom>
          <a:noFill/>
          <a:ln w="14605">
            <a:solidFill>
              <a:srgbClr val="E0891E"/>
            </a:solidFill>
            <a:prstDash val="solid"/>
            <a:headEnd type="none"/>
            <a:tailEnd type="triangle"/>
          </a:ln>
        </p:spPr>
      </p:sp>
      <p:sp>
        <p:nvSpPr>
          <p:cNvPr id="104" name="Text 102"/>
          <p:cNvSpPr/>
          <p:nvPr/>
        </p:nvSpPr>
        <p:spPr>
          <a:xfrm>
            <a:off x="4256588" y="4666223"/>
            <a:ext cx="1927239" cy="310101"/>
          </a:xfrm>
          <a:prstGeom prst="roundRect">
            <a:avLst>
              <a:gd name="adj" fmla="val 14744"/>
            </a:avLst>
          </a:prstGeom>
          <a:solidFill>
            <a:srgbClr val="FDF4E8"/>
          </a:solidFill>
          <a:ln w="13970">
            <a:solidFill>
              <a:srgbClr val="E0891E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B16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Confirmation + Write-back</a:t>
            </a:r>
            <a:endParaRPr lang="en-US" sz="760" dirty="0"/>
          </a:p>
        </p:txBody>
      </p:sp>
      <p:sp>
        <p:nvSpPr>
          <p:cNvPr id="105" name="Text 103"/>
          <p:cNvSpPr/>
          <p:nvPr/>
        </p:nvSpPr>
        <p:spPr>
          <a:xfrm>
            <a:off x="6266124" y="4666223"/>
            <a:ext cx="1489230" cy="310101"/>
          </a:xfrm>
          <a:prstGeom prst="roundRect">
            <a:avLst>
              <a:gd name="adj" fmla="val 14744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Dashboard</a:t>
            </a:r>
            <a:endParaRPr lang="en-US" sz="760" dirty="0"/>
          </a:p>
        </p:txBody>
      </p:sp>
      <p:sp>
        <p:nvSpPr>
          <p:cNvPr id="106" name="Text 104"/>
          <p:cNvSpPr/>
          <p:nvPr/>
        </p:nvSpPr>
        <p:spPr>
          <a:xfrm>
            <a:off x="7837650" y="4666223"/>
            <a:ext cx="1489230" cy="310101"/>
          </a:xfrm>
          <a:prstGeom prst="roundRect">
            <a:avLst>
              <a:gd name="adj" fmla="val 14744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/ Config Panel</a:t>
            </a:r>
            <a:endParaRPr lang="en-US" sz="760" dirty="0"/>
          </a:p>
        </p:txBody>
      </p:sp>
      <p:sp>
        <p:nvSpPr>
          <p:cNvPr id="107" name="Shape 105"/>
          <p:cNvSpPr/>
          <p:nvPr/>
        </p:nvSpPr>
        <p:spPr>
          <a:xfrm>
            <a:off x="310896" y="4996898"/>
            <a:ext cx="9015984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10896" y="5017472"/>
            <a:ext cx="1298448" cy="418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4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&amp; CONTINUOUS LEARNING</a:t>
            </a:r>
            <a:endParaRPr lang="en-US" sz="74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FR-AUD-004 · FR-AUD-009 · FR-AIQ-010/011</a:t>
            </a:r>
            <a:endParaRPr lang="en-US" sz="740" dirty="0"/>
          </a:p>
        </p:txBody>
      </p:sp>
      <p:sp>
        <p:nvSpPr>
          <p:cNvPr id="109" name="Text 107"/>
          <p:cNvSpPr/>
          <p:nvPr/>
        </p:nvSpPr>
        <p:spPr>
          <a:xfrm>
            <a:off x="1682496" y="5017472"/>
            <a:ext cx="1508246" cy="418636"/>
          </a:xfrm>
          <a:prstGeom prst="roundRect">
            <a:avLst>
              <a:gd name="adj" fmla="val 10921"/>
            </a:avLst>
          </a:prstGeom>
          <a:solidFill>
            <a:srgbClr val="FDF4E8"/>
          </a:solidFill>
          <a:ln w="13970">
            <a:solidFill>
              <a:srgbClr val="E0891E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B16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Overrides Captured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· AI Value · Actual Value · Reason</a:t>
            </a:r>
            <a:endParaRPr lang="en-US" sz="760" dirty="0"/>
          </a:p>
        </p:txBody>
      </p:sp>
      <p:sp>
        <p:nvSpPr>
          <p:cNvPr id="110" name="Shape 108"/>
          <p:cNvSpPr/>
          <p:nvPr/>
        </p:nvSpPr>
        <p:spPr>
          <a:xfrm>
            <a:off x="3236462" y="5226790"/>
            <a:ext cx="219456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3501638" y="5017472"/>
            <a:ext cx="1885308" cy="418636"/>
          </a:xfrm>
          <a:prstGeom prst="roundRect">
            <a:avLst>
              <a:gd name="adj" fmla="val 1092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/ Drift Monitor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override-rate spikes · confidence drop · accuracy by counterparty/product</a:t>
            </a:r>
            <a:endParaRPr lang="en-US" sz="760" dirty="0"/>
          </a:p>
        </p:txBody>
      </p:sp>
      <p:sp>
        <p:nvSpPr>
          <p:cNvPr id="112" name="Shape 110"/>
          <p:cNvSpPr/>
          <p:nvPr/>
        </p:nvSpPr>
        <p:spPr>
          <a:xfrm>
            <a:off x="5432666" y="5226790"/>
            <a:ext cx="219456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5697842" y="5017472"/>
            <a:ext cx="1659071" cy="418636"/>
          </a:xfrm>
          <a:prstGeom prst="roundRect">
            <a:avLst>
              <a:gd name="adj" fmla="val 1092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Surfaced to Manager Dashboard &amp; Admin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degradation = signal to investigate</a:t>
            </a:r>
            <a:endParaRPr lang="en-US" sz="760" dirty="0"/>
          </a:p>
        </p:txBody>
      </p:sp>
      <p:sp>
        <p:nvSpPr>
          <p:cNvPr id="114" name="Shape 112"/>
          <p:cNvSpPr/>
          <p:nvPr/>
        </p:nvSpPr>
        <p:spPr>
          <a:xfrm>
            <a:off x="7402633" y="5226790"/>
            <a:ext cx="219456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115" name="Text 113"/>
          <p:cNvSpPr/>
          <p:nvPr/>
        </p:nvSpPr>
        <p:spPr>
          <a:xfrm>
            <a:off x="7667809" y="5017472"/>
            <a:ext cx="1659071" cy="418636"/>
          </a:xfrm>
          <a:prstGeom prst="roundRect">
            <a:avLst>
              <a:gd name="adj" fmla="val 10921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5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&amp; Threshold Tuning</a:t>
            </a:r>
            <a:endParaRPr lang="en-US" sz="54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 extraction prompts, confidence &amp; tolerances (Admin-gated)</a:t>
            </a:r>
            <a:endParaRPr lang="en-US" sz="540" dirty="0"/>
          </a:p>
        </p:txBody>
      </p:sp>
      <p:sp>
        <p:nvSpPr>
          <p:cNvPr id="116" name="Shape 114"/>
          <p:cNvSpPr/>
          <p:nvPr/>
        </p:nvSpPr>
        <p:spPr>
          <a:xfrm>
            <a:off x="2093976" y="5486400"/>
            <a:ext cx="0" cy="74742"/>
          </a:xfrm>
          <a:prstGeom prst="line">
            <a:avLst/>
          </a:prstGeom>
          <a:noFill/>
          <a:ln w="13970">
            <a:solidFill>
              <a:srgbClr val="2E8B57"/>
            </a:solidFill>
            <a:prstDash val="sysDot"/>
            <a:headEnd type="none"/>
            <a:tailEnd type="triangle"/>
          </a:ln>
        </p:spPr>
      </p:sp>
      <p:sp>
        <p:nvSpPr>
          <p:cNvPr id="117" name="Text 115"/>
          <p:cNvSpPr/>
          <p:nvPr/>
        </p:nvSpPr>
        <p:spPr>
          <a:xfrm>
            <a:off x="310896" y="5611434"/>
            <a:ext cx="1298448" cy="403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4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&amp; LEARNING</a:t>
            </a:r>
            <a:endParaRPr lang="en-US" sz="74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5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(Cross-cutting)</a:t>
            </a:r>
            <a:endParaRPr lang="en-US" sz="740" dirty="0"/>
          </a:p>
        </p:txBody>
      </p:sp>
      <p:sp>
        <p:nvSpPr>
          <p:cNvPr id="118" name="Text 116"/>
          <p:cNvSpPr/>
          <p:nvPr/>
        </p:nvSpPr>
        <p:spPr>
          <a:xfrm>
            <a:off x="1682496" y="5611434"/>
            <a:ext cx="1455725" cy="403131"/>
          </a:xfrm>
          <a:prstGeom prst="roundRect">
            <a:avLst>
              <a:gd name="adj" fmla="val 1134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/ Case Memory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 · source snippets · confidence · match result</a:t>
            </a:r>
            <a:endParaRPr lang="en-US" sz="760" dirty="0"/>
          </a:p>
        </p:txBody>
      </p:sp>
      <p:sp>
        <p:nvSpPr>
          <p:cNvPr id="119" name="Text 117"/>
          <p:cNvSpPr/>
          <p:nvPr/>
        </p:nvSpPr>
        <p:spPr>
          <a:xfrm>
            <a:off x="3229661" y="5611434"/>
            <a:ext cx="1455725" cy="403131"/>
          </a:xfrm>
          <a:prstGeom prst="roundRect">
            <a:avLst>
              <a:gd name="adj" fmla="val 1134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 / Feedback Memory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overrides per counterparty/product → few-shot + tuning</a:t>
            </a:r>
            <a:endParaRPr lang="en-US" sz="760" dirty="0"/>
          </a:p>
        </p:txBody>
      </p:sp>
      <p:sp>
        <p:nvSpPr>
          <p:cNvPr id="120" name="Text 118"/>
          <p:cNvSpPr/>
          <p:nvPr/>
        </p:nvSpPr>
        <p:spPr>
          <a:xfrm>
            <a:off x="4776826" y="5611434"/>
            <a:ext cx="1455725" cy="403131"/>
          </a:xfrm>
          <a:prstGeom prst="roundRect">
            <a:avLst>
              <a:gd name="adj" fmla="val 1134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/ Counterparty Memory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 directory · known SSIs · per-CP formats</a:t>
            </a:r>
            <a:endParaRPr lang="en-US" sz="760" dirty="0"/>
          </a:p>
        </p:txBody>
      </p:sp>
      <p:sp>
        <p:nvSpPr>
          <p:cNvPr id="121" name="Text 119"/>
          <p:cNvSpPr/>
          <p:nvPr/>
        </p:nvSpPr>
        <p:spPr>
          <a:xfrm>
            <a:off x="6323990" y="5611434"/>
            <a:ext cx="1455725" cy="403131"/>
          </a:xfrm>
          <a:prstGeom prst="roundRect">
            <a:avLst>
              <a:gd name="adj" fmla="val 1134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/ Config Memory (versioned)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prompts · schemas · tolerances · versions</a:t>
            </a:r>
            <a:endParaRPr lang="en-US" sz="760" dirty="0"/>
          </a:p>
        </p:txBody>
      </p:sp>
      <p:sp>
        <p:nvSpPr>
          <p:cNvPr id="122" name="Text 120"/>
          <p:cNvSpPr/>
          <p:nvPr/>
        </p:nvSpPr>
        <p:spPr>
          <a:xfrm>
            <a:off x="7871155" y="5611434"/>
            <a:ext cx="1455725" cy="403131"/>
          </a:xfrm>
          <a:prstGeom prst="roundRect">
            <a:avLst>
              <a:gd name="adj" fmla="val 11341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76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/ Retrieval Memory (RAG)</a:t>
            </a:r>
            <a:endParaRPr lang="en-US" sz="7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embeddings of past emails + golden examples</a:t>
            </a:r>
            <a:endParaRPr lang="en-US" sz="760" dirty="0"/>
          </a:p>
        </p:txBody>
      </p:sp>
      <p:sp>
        <p:nvSpPr>
          <p:cNvPr id="123" name="Shape 121"/>
          <p:cNvSpPr/>
          <p:nvPr/>
        </p:nvSpPr>
        <p:spPr>
          <a:xfrm>
            <a:off x="310896" y="6035139"/>
            <a:ext cx="9015984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10896" y="6055713"/>
            <a:ext cx="1298448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4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740" dirty="0"/>
          </a:p>
        </p:txBody>
      </p:sp>
      <p:sp>
        <p:nvSpPr>
          <p:cNvPr id="125" name="Text 123"/>
          <p:cNvSpPr/>
          <p:nvPr/>
        </p:nvSpPr>
        <p:spPr>
          <a:xfrm>
            <a:off x="1682496" y="6092615"/>
            <a:ext cx="143267" cy="143267"/>
          </a:xfrm>
          <a:prstGeom prst="ellipse">
            <a:avLst/>
          </a:prstGeom>
          <a:solidFill>
            <a:srgbClr val="2E8B57"/>
          </a:solidFill>
          <a:ln w="9525">
            <a:solidFill>
              <a:srgbClr val="2E8B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680" dirty="0"/>
          </a:p>
        </p:txBody>
      </p:sp>
      <p:sp>
        <p:nvSpPr>
          <p:cNvPr id="126" name="Text 124"/>
          <p:cNvSpPr/>
          <p:nvPr/>
        </p:nvSpPr>
        <p:spPr>
          <a:xfrm>
            <a:off x="1908059" y="6055713"/>
            <a:ext cx="2996123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Append-only Audit Trail (no-drop reconciliation)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5121446" y="6092615"/>
            <a:ext cx="74499" cy="85960"/>
          </a:xfrm>
          <a:prstGeom prst="ellipse">
            <a:avLst/>
          </a:prstGeom>
          <a:ln w="17780">
            <a:solidFill>
              <a:srgbClr val="1C3F8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095658" y="6147057"/>
            <a:ext cx="126075" cy="80229"/>
          </a:xfrm>
          <a:prstGeom prst="roundRect">
            <a:avLst>
              <a:gd name="adj" fmla="val 22795"/>
            </a:avLst>
          </a:prstGeom>
          <a:solidFill>
            <a:srgbClr val="1C3F8F"/>
          </a:solidFill>
          <a:ln w="9525">
            <a:solidFill>
              <a:srgbClr val="1C3F8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312625" y="6055713"/>
            <a:ext cx="1444941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/ SSO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6940446" y="6118403"/>
            <a:ext cx="143267" cy="91691"/>
          </a:xfrm>
          <a:prstGeom prst="ellipse">
            <a:avLst/>
          </a:prstGeom>
          <a:ln w="17780">
            <a:solidFill>
              <a:srgbClr val="1C3F8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989157" y="6141326"/>
            <a:ext cx="45845" cy="45845"/>
          </a:xfrm>
          <a:prstGeom prst="ellipse">
            <a:avLst/>
          </a:prstGeom>
          <a:solidFill>
            <a:srgbClr val="1C3F8F"/>
          </a:solidFill>
          <a:ln w="6350">
            <a:solidFill>
              <a:srgbClr val="1C3F8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166009" y="6055713"/>
            <a:ext cx="2160871" cy="217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 / load metrics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9528048" y="566928"/>
            <a:ext cx="2432304" cy="3584448"/>
          </a:xfrm>
          <a:prstGeom prst="roundRect">
            <a:avLst>
              <a:gd name="adj" fmla="val 2632"/>
            </a:avLst>
          </a:prstGeom>
          <a:solidFill>
            <a:srgbClr val="F6F9FF"/>
          </a:solidFill>
          <a:ln w="14605">
            <a:solidFill>
              <a:srgbClr val="2F6FE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601200" y="6217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spc="2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Sources &amp; Systems of Record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(External)</a:t>
            </a:r>
            <a:endParaRPr lang="en-US" sz="760" dirty="0"/>
          </a:p>
        </p:txBody>
      </p:sp>
      <p:sp>
        <p:nvSpPr>
          <p:cNvPr id="135" name="Shape 133"/>
          <p:cNvSpPr/>
          <p:nvPr/>
        </p:nvSpPr>
        <p:spPr>
          <a:xfrm>
            <a:off x="9619488" y="969264"/>
            <a:ext cx="2249424" cy="306470"/>
          </a:xfrm>
          <a:prstGeom prst="roundRect">
            <a:avLst>
              <a:gd name="adj" fmla="val 14918"/>
            </a:avLst>
          </a:prstGeom>
          <a:solidFill>
            <a:srgbClr val="FFFFFF"/>
          </a:solidFill>
          <a:ln w="12700">
            <a:solidFill>
              <a:srgbClr val="2F6FE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701784" y="1024429"/>
            <a:ext cx="155448" cy="196141"/>
          </a:xfrm>
          <a:prstGeom prst="can">
            <a:avLst/>
          </a:prstGeom>
          <a:solidFill>
            <a:srgbClr val="2F6FE0"/>
          </a:solidFill>
          <a:ln w="9525">
            <a:solidFill>
              <a:srgbClr val="2F6FE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912096" y="969264"/>
            <a:ext cx="1938528" cy="3064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4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</a:t>
            </a:r>
            <a:endParaRPr lang="en-US" sz="74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59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Phoenix</a:t>
            </a:r>
            <a:endParaRPr lang="en-US" sz="740" dirty="0"/>
          </a:p>
        </p:txBody>
      </p:sp>
      <p:sp>
        <p:nvSpPr>
          <p:cNvPr id="138" name="Shape 136"/>
          <p:cNvSpPr/>
          <p:nvPr/>
        </p:nvSpPr>
        <p:spPr>
          <a:xfrm>
            <a:off x="9619488" y="1321454"/>
            <a:ext cx="2249424" cy="306470"/>
          </a:xfrm>
          <a:prstGeom prst="roundRect">
            <a:avLst>
              <a:gd name="adj" fmla="val 14918"/>
            </a:avLst>
          </a:prstGeom>
          <a:solidFill>
            <a:srgbClr val="FFFFFF"/>
          </a:solidFill>
          <a:ln w="12700">
            <a:solidFill>
              <a:srgbClr val="2F6FE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701784" y="1376619"/>
            <a:ext cx="155448" cy="196141"/>
          </a:xfrm>
          <a:prstGeom prst="can">
            <a:avLst/>
          </a:prstGeom>
          <a:solidFill>
            <a:srgbClr val="2F6FE0"/>
          </a:solidFill>
          <a:ln w="9525">
            <a:solidFill>
              <a:srgbClr val="2F6FE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912096" y="1321454"/>
            <a:ext cx="1938528" cy="3064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4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</a:t>
            </a:r>
            <a:endParaRPr lang="en-US" sz="74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59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of Record</a:t>
            </a:r>
            <a:endParaRPr lang="en-US" sz="740" dirty="0"/>
          </a:p>
        </p:txBody>
      </p:sp>
      <p:sp>
        <p:nvSpPr>
          <p:cNvPr id="141" name="Shape 139"/>
          <p:cNvSpPr/>
          <p:nvPr/>
        </p:nvSpPr>
        <p:spPr>
          <a:xfrm>
            <a:off x="9619488" y="1673645"/>
            <a:ext cx="2249424" cy="306470"/>
          </a:xfrm>
          <a:prstGeom prst="roundRect">
            <a:avLst>
              <a:gd name="adj" fmla="val 14918"/>
            </a:avLst>
          </a:prstGeom>
          <a:solidFill>
            <a:srgbClr val="FFFFFF"/>
          </a:solidFill>
          <a:ln w="12700">
            <a:solidFill>
              <a:srgbClr val="2F6FE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701784" y="1728809"/>
            <a:ext cx="155448" cy="196141"/>
          </a:xfrm>
          <a:prstGeom prst="can">
            <a:avLst/>
          </a:prstGeom>
          <a:solidFill>
            <a:srgbClr val="2F6FE0"/>
          </a:solidFill>
          <a:ln w="9525">
            <a:solidFill>
              <a:srgbClr val="2F6FE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9912096" y="1673645"/>
            <a:ext cx="1938528" cy="3064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4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</a:t>
            </a:r>
            <a:endParaRPr lang="en-US" sz="740" dirty="0"/>
          </a:p>
        </p:txBody>
      </p:sp>
      <p:sp>
        <p:nvSpPr>
          <p:cNvPr id="144" name="Shape 142"/>
          <p:cNvSpPr/>
          <p:nvPr/>
        </p:nvSpPr>
        <p:spPr>
          <a:xfrm>
            <a:off x="9619488" y="2025835"/>
            <a:ext cx="2249424" cy="306470"/>
          </a:xfrm>
          <a:prstGeom prst="roundRect">
            <a:avLst>
              <a:gd name="adj" fmla="val 14918"/>
            </a:avLst>
          </a:prstGeom>
          <a:solidFill>
            <a:srgbClr val="FFFFFF"/>
          </a:solidFill>
          <a:ln w="12700">
            <a:solidFill>
              <a:srgbClr val="2F6FE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701784" y="2081000"/>
            <a:ext cx="155448" cy="196141"/>
          </a:xfrm>
          <a:prstGeom prst="can">
            <a:avLst/>
          </a:prstGeom>
          <a:solidFill>
            <a:srgbClr val="2F6FE0"/>
          </a:solidFill>
          <a:ln w="9525">
            <a:solidFill>
              <a:srgbClr val="2F6FE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912096" y="2025835"/>
            <a:ext cx="1938528" cy="3064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4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</a:t>
            </a:r>
            <a:endParaRPr lang="en-US" sz="74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59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Counterparty Master</a:t>
            </a:r>
            <a:endParaRPr lang="en-US" sz="740" dirty="0"/>
          </a:p>
        </p:txBody>
      </p:sp>
      <p:sp>
        <p:nvSpPr>
          <p:cNvPr id="147" name="Shape 145"/>
          <p:cNvSpPr/>
          <p:nvPr/>
        </p:nvSpPr>
        <p:spPr>
          <a:xfrm>
            <a:off x="9619488" y="2378025"/>
            <a:ext cx="2249424" cy="306470"/>
          </a:xfrm>
          <a:prstGeom prst="roundRect">
            <a:avLst>
              <a:gd name="adj" fmla="val 14918"/>
            </a:avLst>
          </a:prstGeom>
          <a:solidFill>
            <a:srgbClr val="FFFFFF"/>
          </a:solidFill>
          <a:ln w="12700">
            <a:solidFill>
              <a:srgbClr val="2F6FE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701784" y="2433190"/>
            <a:ext cx="155448" cy="196141"/>
          </a:xfrm>
          <a:prstGeom prst="can">
            <a:avLst/>
          </a:prstGeom>
          <a:solidFill>
            <a:srgbClr val="2F6FE0"/>
          </a:solidFill>
          <a:ln w="9525">
            <a:solidFill>
              <a:srgbClr val="2F6FE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9912096" y="2378025"/>
            <a:ext cx="1938528" cy="3064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4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Downstream</a:t>
            </a:r>
            <a:endParaRPr lang="en-US" sz="74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59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Axial · Gloss · IPC · Gorilla · Agent Bank</a:t>
            </a:r>
            <a:endParaRPr lang="en-US" sz="740" dirty="0"/>
          </a:p>
        </p:txBody>
      </p:sp>
      <p:sp>
        <p:nvSpPr>
          <p:cNvPr id="150" name="Shape 148"/>
          <p:cNvSpPr/>
          <p:nvPr/>
        </p:nvSpPr>
        <p:spPr>
          <a:xfrm>
            <a:off x="9656064" y="2748504"/>
            <a:ext cx="2176272" cy="0"/>
          </a:xfrm>
          <a:prstGeom prst="line">
            <a:avLst/>
          </a:prstGeom>
          <a:noFill/>
          <a:ln w="9525">
            <a:solidFill>
              <a:srgbClr val="B9C6DE"/>
            </a:solidFill>
            <a:prstDash val="dash"/>
          </a:ln>
        </p:spPr>
      </p:sp>
      <p:sp>
        <p:nvSpPr>
          <p:cNvPr id="151" name="Text 149"/>
          <p:cNvSpPr/>
          <p:nvPr/>
        </p:nvSpPr>
        <p:spPr>
          <a:xfrm>
            <a:off x="9619488" y="2775936"/>
            <a:ext cx="2249424" cy="3533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IntegrationHub Spokes</a:t>
            </a:r>
            <a:endParaRPr lang="en-US" sz="62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(read + write-back under analyst identity)</a:t>
            </a:r>
            <a:endParaRPr lang="en-US" sz="620" dirty="0"/>
          </a:p>
        </p:txBody>
      </p:sp>
      <p:sp>
        <p:nvSpPr>
          <p:cNvPr id="152" name="Shape 150"/>
          <p:cNvSpPr/>
          <p:nvPr/>
        </p:nvSpPr>
        <p:spPr>
          <a:xfrm>
            <a:off x="9656064" y="3156747"/>
            <a:ext cx="2176272" cy="0"/>
          </a:xfrm>
          <a:prstGeom prst="line">
            <a:avLst/>
          </a:prstGeom>
          <a:noFill/>
          <a:ln w="9525">
            <a:solidFill>
              <a:srgbClr val="B9C6DE"/>
            </a:solidFill>
            <a:prstDash val="dash"/>
          </a:ln>
        </p:spPr>
      </p:sp>
      <p:sp>
        <p:nvSpPr>
          <p:cNvPr id="153" name="Text 151"/>
          <p:cNvSpPr/>
          <p:nvPr/>
        </p:nvSpPr>
        <p:spPr>
          <a:xfrm>
            <a:off x="9619488" y="3184179"/>
            <a:ext cx="2249424" cy="3533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Schema-out / model reference</a:t>
            </a:r>
            <a:endParaRPr lang="en-US" sz="62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(IT micro-instances)</a:t>
            </a:r>
            <a:endParaRPr lang="en-US" sz="620" dirty="0"/>
          </a:p>
        </p:txBody>
      </p:sp>
      <p:sp>
        <p:nvSpPr>
          <p:cNvPr id="154" name="Shape 152"/>
          <p:cNvSpPr/>
          <p:nvPr/>
        </p:nvSpPr>
        <p:spPr>
          <a:xfrm>
            <a:off x="9656064" y="3564990"/>
            <a:ext cx="2176272" cy="0"/>
          </a:xfrm>
          <a:prstGeom prst="line">
            <a:avLst/>
          </a:prstGeom>
          <a:noFill/>
          <a:ln w="9525">
            <a:solidFill>
              <a:srgbClr val="B9C6DE"/>
            </a:solidFill>
            <a:prstDash val="dash"/>
          </a:ln>
        </p:spPr>
      </p:sp>
      <p:sp>
        <p:nvSpPr>
          <p:cNvPr id="155" name="Text 153"/>
          <p:cNvSpPr/>
          <p:nvPr/>
        </p:nvSpPr>
        <p:spPr>
          <a:xfrm>
            <a:off x="9619488" y="3592422"/>
            <a:ext cx="2249424" cy="3533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62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loop — corrections improve the next extraction (governed by Admin)</a:t>
            </a:r>
            <a:endParaRPr lang="en-US" sz="620" dirty="0"/>
          </a:p>
        </p:txBody>
      </p:sp>
      <p:sp>
        <p:nvSpPr>
          <p:cNvPr id="156" name="Shape 154"/>
          <p:cNvSpPr/>
          <p:nvPr/>
        </p:nvSpPr>
        <p:spPr>
          <a:xfrm>
            <a:off x="9528048" y="4261104"/>
            <a:ext cx="243230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637776" y="4409440"/>
            <a:ext cx="274320" cy="89408"/>
          </a:xfrm>
          <a:prstGeom prst="roundRect">
            <a:avLst>
              <a:gd name="adj" fmla="val 20455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994392" y="4352544"/>
            <a:ext cx="187452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= ServiceNow-native</a:t>
            </a:r>
            <a:endParaRPr lang="en-US" sz="630" dirty="0"/>
          </a:p>
        </p:txBody>
      </p:sp>
      <p:sp>
        <p:nvSpPr>
          <p:cNvPr id="159" name="Shape 157"/>
          <p:cNvSpPr/>
          <p:nvPr/>
        </p:nvSpPr>
        <p:spPr>
          <a:xfrm>
            <a:off x="9637776" y="4612640"/>
            <a:ext cx="274320" cy="89408"/>
          </a:xfrm>
          <a:prstGeom prst="roundRect">
            <a:avLst>
              <a:gd name="adj" fmla="val 20455"/>
            </a:avLst>
          </a:prstGeom>
          <a:solidFill>
            <a:srgbClr val="FDF4E8"/>
          </a:solidFill>
          <a:ln w="13970">
            <a:solidFill>
              <a:srgbClr val="E0891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994392" y="4555744"/>
            <a:ext cx="187452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Amber = Human-in-the-loop</a:t>
            </a:r>
            <a:endParaRPr lang="en-US" sz="630" dirty="0"/>
          </a:p>
        </p:txBody>
      </p:sp>
      <p:sp>
        <p:nvSpPr>
          <p:cNvPr id="161" name="Shape 159"/>
          <p:cNvSpPr/>
          <p:nvPr/>
        </p:nvSpPr>
        <p:spPr>
          <a:xfrm>
            <a:off x="9637776" y="4815840"/>
            <a:ext cx="274320" cy="89408"/>
          </a:xfrm>
          <a:prstGeom prst="roundRect">
            <a:avLst>
              <a:gd name="adj" fmla="val 20455"/>
            </a:avLst>
          </a:prstGeom>
          <a:solidFill>
            <a:srgbClr val="EEF3FD"/>
          </a:solidFill>
          <a:ln w="13970">
            <a:solidFill>
              <a:srgbClr val="2F6FE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994392" y="4758944"/>
            <a:ext cx="187452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= External system</a:t>
            </a:r>
            <a:endParaRPr lang="en-US" sz="630" dirty="0"/>
          </a:p>
        </p:txBody>
      </p:sp>
      <p:sp>
        <p:nvSpPr>
          <p:cNvPr id="163" name="Shape 161"/>
          <p:cNvSpPr/>
          <p:nvPr/>
        </p:nvSpPr>
        <p:spPr>
          <a:xfrm>
            <a:off x="9637776" y="5019040"/>
            <a:ext cx="274320" cy="89408"/>
          </a:xfrm>
          <a:prstGeom prst="roundRect">
            <a:avLst>
              <a:gd name="adj" fmla="val 20455"/>
            </a:avLst>
          </a:prstGeom>
          <a:solidFill>
            <a:srgbClr val="EDF6F7"/>
          </a:solidFill>
          <a:ln w="13970">
            <a:solidFill>
              <a:srgbClr val="158A9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994392" y="4962144"/>
            <a:ext cx="187452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Teal = Scale / container</a:t>
            </a:r>
            <a:endParaRPr lang="en-US" sz="630" dirty="0"/>
          </a:p>
        </p:txBody>
      </p:sp>
      <p:sp>
        <p:nvSpPr>
          <p:cNvPr id="165" name="Shape 163"/>
          <p:cNvSpPr/>
          <p:nvPr/>
        </p:nvSpPr>
        <p:spPr>
          <a:xfrm>
            <a:off x="9637776" y="5222240"/>
            <a:ext cx="274320" cy="89408"/>
          </a:xfrm>
          <a:prstGeom prst="roundRect">
            <a:avLst>
              <a:gd name="adj" fmla="val 20455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994392" y="5165344"/>
            <a:ext cx="187452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Purple = AI</a:t>
            </a:r>
            <a:endParaRPr lang="en-US" sz="630" dirty="0"/>
          </a:p>
        </p:txBody>
      </p:sp>
      <p:sp>
        <p:nvSpPr>
          <p:cNvPr id="167" name="Shape 165"/>
          <p:cNvSpPr/>
          <p:nvPr/>
        </p:nvSpPr>
        <p:spPr>
          <a:xfrm>
            <a:off x="9637776" y="5425440"/>
            <a:ext cx="274320" cy="89408"/>
          </a:xfrm>
          <a:prstGeom prst="roundRect">
            <a:avLst>
              <a:gd name="adj" fmla="val 20455"/>
            </a:avLst>
          </a:prstGeom>
          <a:solidFill>
            <a:srgbClr val="FDEFF1"/>
          </a:solidFill>
          <a:ln w="13970">
            <a:solidFill>
              <a:srgbClr val="CF2A3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9994392" y="5368544"/>
            <a:ext cx="187452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= Exception / out-of-scope</a:t>
            </a:r>
            <a:endParaRPr lang="en-US" sz="630" dirty="0"/>
          </a:p>
        </p:txBody>
      </p:sp>
      <p:sp>
        <p:nvSpPr>
          <p:cNvPr id="169" name="Shape 167"/>
          <p:cNvSpPr/>
          <p:nvPr/>
        </p:nvSpPr>
        <p:spPr>
          <a:xfrm>
            <a:off x="9637776" y="5673344"/>
            <a:ext cx="274320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tailEnd type="triangle"/>
          </a:ln>
        </p:spPr>
      </p:sp>
      <p:sp>
        <p:nvSpPr>
          <p:cNvPr id="170" name="Text 168"/>
          <p:cNvSpPr/>
          <p:nvPr/>
        </p:nvSpPr>
        <p:spPr>
          <a:xfrm>
            <a:off x="9994392" y="5571744"/>
            <a:ext cx="187452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Solid arrow = data / process flow</a:t>
            </a:r>
            <a:endParaRPr lang="en-US" sz="630" dirty="0"/>
          </a:p>
        </p:txBody>
      </p:sp>
      <p:sp>
        <p:nvSpPr>
          <p:cNvPr id="171" name="Shape 169"/>
          <p:cNvSpPr/>
          <p:nvPr/>
        </p:nvSpPr>
        <p:spPr>
          <a:xfrm>
            <a:off x="9637776" y="5876544"/>
            <a:ext cx="274320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dash"/>
            <a:tailEnd type="triangle"/>
          </a:ln>
        </p:spPr>
      </p:sp>
      <p:sp>
        <p:nvSpPr>
          <p:cNvPr id="172" name="Text 170"/>
          <p:cNvSpPr/>
          <p:nvPr/>
        </p:nvSpPr>
        <p:spPr>
          <a:xfrm>
            <a:off x="9994392" y="5774944"/>
            <a:ext cx="187452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Dashed arrow = AI inference call</a:t>
            </a:r>
            <a:endParaRPr lang="en-US" sz="630" dirty="0"/>
          </a:p>
        </p:txBody>
      </p:sp>
      <p:sp>
        <p:nvSpPr>
          <p:cNvPr id="173" name="Shape 171"/>
          <p:cNvSpPr/>
          <p:nvPr/>
        </p:nvSpPr>
        <p:spPr>
          <a:xfrm>
            <a:off x="9637776" y="6079744"/>
            <a:ext cx="274320" cy="0"/>
          </a:xfrm>
          <a:prstGeom prst="line">
            <a:avLst/>
          </a:prstGeom>
          <a:noFill/>
          <a:ln w="14605">
            <a:solidFill>
              <a:srgbClr val="2E8B57"/>
            </a:solidFill>
            <a:prstDash val="sysDot"/>
            <a:tailEnd type="triangle"/>
          </a:ln>
        </p:spPr>
      </p:sp>
      <p:sp>
        <p:nvSpPr>
          <p:cNvPr id="174" name="Text 172"/>
          <p:cNvSpPr/>
          <p:nvPr/>
        </p:nvSpPr>
        <p:spPr>
          <a:xfrm>
            <a:off x="9994392" y="5978144"/>
            <a:ext cx="187452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Dotted arrow = Feedback / correction signal</a:t>
            </a:r>
            <a:endParaRPr lang="en-US" sz="630" dirty="0"/>
          </a:p>
        </p:txBody>
      </p:sp>
      <p:sp>
        <p:nvSpPr>
          <p:cNvPr id="175" name="Shape 173"/>
          <p:cNvSpPr/>
          <p:nvPr/>
        </p:nvSpPr>
        <p:spPr>
          <a:xfrm>
            <a:off x="310896" y="6355080"/>
            <a:ext cx="11649456" cy="365760"/>
          </a:xfrm>
          <a:prstGeom prst="roundRect">
            <a:avLst>
              <a:gd name="adj" fmla="val 15000"/>
            </a:avLst>
          </a:prstGeom>
          <a:solidFill>
            <a:srgbClr val="12294F"/>
          </a:solidFill>
          <a:ln w="9525">
            <a:solidFill>
              <a:srgbClr val="12294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75488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</a:t>
            </a:r>
            <a:pPr algn="l" indent="0" marL="0">
              <a:buNone/>
            </a:pPr>
            <a:r>
              <a:rPr lang="en-US" sz="1050" b="1" dirty="0">
                <a:solidFill>
                  <a:srgbClr val="8FD1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1050" dirty="0"/>
          </a:p>
        </p:txBody>
      </p:sp>
      <p:sp>
        <p:nvSpPr>
          <p:cNvPr id="177" name="Text 175"/>
          <p:cNvSpPr/>
          <p:nvPr/>
        </p:nvSpPr>
        <p:spPr>
          <a:xfrm>
            <a:off x="1591056" y="6355080"/>
            <a:ext cx="10232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D9E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 Now Platform — Flow Designer (orchestration)   •   IntegrationHub   •   Decision Tables   •   UI Builder   •   Scoped App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91440"/>
            <a:ext cx="11951208" cy="667512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55448"/>
            <a:ext cx="1164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Intake, Routing &amp; Classification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640080"/>
            <a:ext cx="1828800" cy="1660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 &amp; SOURCES</a:t>
            </a:r>
            <a:endParaRPr lang="en-US" sz="13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8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(External)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640080"/>
            <a:ext cx="658368" cy="629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TYPE: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2990088" y="640080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body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4471416" y="640080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5952744" y="640080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7434072" y="640080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/ XML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8915400" y="640080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Screen-print / Image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0396728" y="640080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SWIFT / MT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2286000" y="1305986"/>
            <a:ext cx="658368" cy="629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ORIGIN: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2990088" y="1305986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OTC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4471416" y="1305986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FX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5952744" y="1305986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Settlements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7434072" y="1305986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Data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8915400" y="1305986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OTC ADM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10396728" y="1305986"/>
            <a:ext cx="1417320" cy="629330"/>
          </a:xfrm>
          <a:prstGeom prst="roundRect">
            <a:avLst>
              <a:gd name="adj" fmla="val 5812"/>
            </a:avLst>
          </a:prstGeom>
          <a:solidFill>
            <a:srgbClr val="2F6FE0"/>
          </a:solidFill>
          <a:ln w="9525">
            <a:solidFill>
              <a:srgbClr val="2F6FE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1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… +N processors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2286000" y="1935316"/>
            <a:ext cx="9528048" cy="365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9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1,500+ shared mailboxes</a:t>
            </a:r>
            <a:endParaRPr lang="en-US" sz="1190" dirty="0"/>
          </a:p>
        </p:txBody>
      </p:sp>
      <p:sp>
        <p:nvSpPr>
          <p:cNvPr id="20" name="Shape 18"/>
          <p:cNvSpPr/>
          <p:nvPr/>
        </p:nvSpPr>
        <p:spPr>
          <a:xfrm>
            <a:off x="384048" y="2321212"/>
            <a:ext cx="11430000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2341786"/>
            <a:ext cx="9528048" cy="339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Graph API / IntegrationHub — scheduled pull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50024" y="2699518"/>
            <a:ext cx="0" cy="246712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4048" y="2979139"/>
            <a:ext cx="11430000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999713"/>
            <a:ext cx="1828800" cy="1375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INGESTION &amp; ROUTING</a:t>
            </a:r>
            <a:endParaRPr lang="en-US" sz="13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8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(Scale)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2999713"/>
            <a:ext cx="2001393" cy="1004401"/>
          </a:xfrm>
          <a:prstGeom prst="roundRect">
            <a:avLst>
              <a:gd name="adj" fmla="val 4552"/>
            </a:avLst>
          </a:prstGeom>
          <a:solidFill>
            <a:srgbClr val="EDF6F7"/>
          </a:solidFill>
          <a:ln w="13970">
            <a:solidFill>
              <a:srgbClr val="158A90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33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/ Staging</a:t>
            </a:r>
            <a:endParaRPr lang="en-US" sz="133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05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temporary, audited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4333113" y="3501914"/>
            <a:ext cx="416052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794885" y="2999713"/>
            <a:ext cx="2001393" cy="1004401"/>
          </a:xfrm>
          <a:prstGeom prst="roundRect">
            <a:avLst>
              <a:gd name="adj" fmla="val 4552"/>
            </a:avLst>
          </a:prstGeom>
          <a:solidFill>
            <a:srgbClr val="EDF6F7"/>
          </a:solidFill>
          <a:ln w="13970">
            <a:solidFill>
              <a:srgbClr val="158A90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33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Balancer</a:t>
            </a:r>
            <a:endParaRPr lang="en-US" sz="1330" dirty="0"/>
          </a:p>
        </p:txBody>
      </p:sp>
      <p:sp>
        <p:nvSpPr>
          <p:cNvPr id="28" name="Shape 26"/>
          <p:cNvSpPr/>
          <p:nvPr/>
        </p:nvSpPr>
        <p:spPr>
          <a:xfrm>
            <a:off x="6841998" y="3501914"/>
            <a:ext cx="416052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303770" y="2999713"/>
            <a:ext cx="2001393" cy="1004401"/>
          </a:xfrm>
          <a:prstGeom prst="roundRect">
            <a:avLst>
              <a:gd name="adj" fmla="val 4552"/>
            </a:avLst>
          </a:prstGeom>
          <a:solidFill>
            <a:srgbClr val="EDF6F7"/>
          </a:solidFill>
          <a:ln w="13970">
            <a:solidFill>
              <a:srgbClr val="158A90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33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Controller</a:t>
            </a:r>
            <a:endParaRPr lang="en-US" sz="133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05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throttle</a:t>
            </a:r>
            <a:endParaRPr lang="en-US" sz="1330" dirty="0"/>
          </a:p>
        </p:txBody>
      </p:sp>
      <p:sp>
        <p:nvSpPr>
          <p:cNvPr id="30" name="Shape 28"/>
          <p:cNvSpPr/>
          <p:nvPr/>
        </p:nvSpPr>
        <p:spPr>
          <a:xfrm>
            <a:off x="9350883" y="3501914"/>
            <a:ext cx="416052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9812655" y="2999713"/>
            <a:ext cx="2001393" cy="1004401"/>
          </a:xfrm>
          <a:prstGeom prst="roundRect">
            <a:avLst>
              <a:gd name="adj" fmla="val 4552"/>
            </a:avLst>
          </a:prstGeom>
          <a:solidFill>
            <a:srgbClr val="EDF6F7"/>
          </a:solidFill>
          <a:ln w="13970">
            <a:solidFill>
              <a:srgbClr val="158A90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33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intake workers</a:t>
            </a:r>
            <a:endParaRPr lang="en-US" sz="133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05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containers</a:t>
            </a:r>
            <a:endParaRPr lang="en-US" sz="1330" dirty="0"/>
          </a:p>
        </p:txBody>
      </p:sp>
      <p:sp>
        <p:nvSpPr>
          <p:cNvPr id="32" name="Text 30"/>
          <p:cNvSpPr/>
          <p:nvPr/>
        </p:nvSpPr>
        <p:spPr>
          <a:xfrm>
            <a:off x="2286000" y="4004114"/>
            <a:ext cx="9528048" cy="37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9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early by mailbox + system metadata — no serial bottleneck</a:t>
            </a:r>
            <a:endParaRPr lang="en-US" sz="1190" dirty="0"/>
          </a:p>
        </p:txBody>
      </p:sp>
      <p:sp>
        <p:nvSpPr>
          <p:cNvPr id="33" name="Shape 31"/>
          <p:cNvSpPr/>
          <p:nvPr/>
        </p:nvSpPr>
        <p:spPr>
          <a:xfrm>
            <a:off x="384048" y="4396179"/>
            <a:ext cx="11430000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416753"/>
            <a:ext cx="1828800" cy="1755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0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&amp; THE FUNNEL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86000" y="4641450"/>
            <a:ext cx="3811134" cy="954963"/>
          </a:xfrm>
          <a:prstGeom prst="roundRect">
            <a:avLst>
              <a:gd name="adj" fmla="val 4788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33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</a:t>
            </a:r>
            <a:endParaRPr lang="en-US" sz="133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05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(keywords + context) + AI classifier</a:t>
            </a:r>
            <a:endParaRPr lang="en-US" sz="1330" dirty="0"/>
          </a:p>
        </p:txBody>
      </p:sp>
      <p:sp>
        <p:nvSpPr>
          <p:cNvPr id="36" name="Shape 34"/>
          <p:cNvSpPr/>
          <p:nvPr/>
        </p:nvSpPr>
        <p:spPr>
          <a:xfrm>
            <a:off x="6151998" y="5118932"/>
            <a:ext cx="416052" cy="0"/>
          </a:xfrm>
          <a:prstGeom prst="line">
            <a:avLst/>
          </a:prstGeom>
          <a:noFill/>
          <a:ln w="14605">
            <a:solidFill>
              <a:srgbClr val="2E8B57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22914" y="4714081"/>
            <a:ext cx="704088" cy="809701"/>
          </a:xfrm>
          <a:prstGeom prst="funnel">
            <a:avLst/>
          </a:prstGeom>
          <a:solidFill>
            <a:srgbClr val="2E8B57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81866" y="4416753"/>
            <a:ext cx="3017148" cy="679319"/>
          </a:xfrm>
          <a:prstGeom prst="roundRect">
            <a:avLst>
              <a:gd name="adj" fmla="val 6730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33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In-scope → proceed</a:t>
            </a:r>
            <a:endParaRPr lang="en-US" sz="1330" dirty="0"/>
          </a:p>
        </p:txBody>
      </p:sp>
      <p:sp>
        <p:nvSpPr>
          <p:cNvPr id="39" name="Text 37"/>
          <p:cNvSpPr/>
          <p:nvPr/>
        </p:nvSpPr>
        <p:spPr>
          <a:xfrm>
            <a:off x="7381866" y="5141792"/>
            <a:ext cx="3017148" cy="679319"/>
          </a:xfrm>
          <a:prstGeom prst="roundRect">
            <a:avLst>
              <a:gd name="adj" fmla="val 6730"/>
            </a:avLst>
          </a:prstGeom>
          <a:solidFill>
            <a:srgbClr val="FDEFF1"/>
          </a:solidFill>
          <a:ln w="13970">
            <a:solidFill>
              <a:srgbClr val="CF2A3F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330" b="1" dirty="0">
                <a:solidFill>
                  <a:srgbClr val="B11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Out-of-scope → Exception queue</a:t>
            </a:r>
            <a:endParaRPr lang="en-US" sz="133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05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tagged, audited</a:t>
            </a:r>
            <a:endParaRPr lang="en-US" sz="1330" dirty="0"/>
          </a:p>
        </p:txBody>
      </p:sp>
      <p:sp>
        <p:nvSpPr>
          <p:cNvPr id="40" name="Text 38"/>
          <p:cNvSpPr/>
          <p:nvPr/>
        </p:nvSpPr>
        <p:spPr>
          <a:xfrm>
            <a:off x="10453878" y="4416753"/>
            <a:ext cx="1360170" cy="140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drops —</a:t>
            </a:r>
            <a:endParaRPr lang="en-US" sz="11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in = N</a:t>
            </a:r>
            <a:endParaRPr lang="en-US" sz="11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accounted for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286000" y="5821111"/>
            <a:ext cx="9528048" cy="351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9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~4,500 ingested   →   ~400 in-scope   ·   ~4,100 → exception</a:t>
            </a:r>
            <a:endParaRPr lang="en-US" sz="1190" dirty="0"/>
          </a:p>
        </p:txBody>
      </p:sp>
      <p:sp>
        <p:nvSpPr>
          <p:cNvPr id="42" name="Shape 40"/>
          <p:cNvSpPr/>
          <p:nvPr/>
        </p:nvSpPr>
        <p:spPr>
          <a:xfrm>
            <a:off x="384048" y="6291072"/>
            <a:ext cx="11430000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1229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2910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</a:t>
            </a:r>
            <a:pPr algn="l" indent="0" marL="0">
              <a:buNone/>
            </a:pPr>
            <a:r>
              <a:rPr lang="en-US" sz="1050" b="1" dirty="0">
                <a:solidFill>
                  <a:srgbClr val="8FD1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664208" y="6291072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D9E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 Now Platform — Flow Designer (orchestration)   •   IntegrationHub   •   Decision Tables   •   UI Builder   •   Scoped App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91440"/>
            <a:ext cx="11951208" cy="667512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55448"/>
            <a:ext cx="1164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Orchestration, Containers &amp; Capabilities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640080"/>
            <a:ext cx="1828800" cy="135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 CORE = CONFIG + CLASSIFICATION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286000" y="640080"/>
            <a:ext cx="2246849" cy="1059079"/>
          </a:xfrm>
          <a:prstGeom prst="roundRect">
            <a:avLst>
              <a:gd name="adj" fmla="val 4317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Wizard</a:t>
            </a:r>
            <a:endParaRPr lang="en-US" sz="118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3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work-driver: processor + work-driver key, fields, rules, mapping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4578569" y="1169620"/>
            <a:ext cx="340157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964446" y="640080"/>
            <a:ext cx="1887353" cy="1059079"/>
          </a:xfrm>
          <a:prstGeom prst="roundRect">
            <a:avLst>
              <a:gd name="adj" fmla="val 4317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 / Prompt-Standardiser</a:t>
            </a:r>
            <a:endParaRPr lang="en-US" sz="84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3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AI: free-text → standardised config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6897519" y="1169620"/>
            <a:ext cx="340157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83396" y="978281"/>
            <a:ext cx="283464" cy="382676"/>
          </a:xfrm>
          <a:prstGeom prst="can">
            <a:avLst/>
          </a:prstGeom>
          <a:solidFill>
            <a:srgbClr val="2E8B57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12580" y="640080"/>
            <a:ext cx="2156975" cy="1059079"/>
          </a:xfrm>
          <a:prstGeom prst="roundRect">
            <a:avLst>
              <a:gd name="adj" fmla="val 4317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Config + Metadata Store</a:t>
            </a:r>
            <a:endParaRPr lang="en-US" sz="118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3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accessed in parallel by all containers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9815275" y="1169620"/>
            <a:ext cx="425196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286191" y="640080"/>
            <a:ext cx="1527857" cy="1059079"/>
          </a:xfrm>
          <a:prstGeom prst="roundRect">
            <a:avLst>
              <a:gd name="adj" fmla="val 4317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Tables</a:t>
            </a:r>
            <a:endParaRPr lang="en-US" sz="118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3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routing, tolerances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2286000" y="1699159"/>
            <a:ext cx="9528048" cy="298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 + Classification = Orchestration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018448"/>
            <a:ext cx="11430000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39022"/>
            <a:ext cx="1828800" cy="1654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WORK-DRIVER CONTAINERS</a:t>
            </a:r>
            <a:endParaRPr lang="en-US" sz="115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87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(Scale)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86000" y="2039022"/>
            <a:ext cx="9528048" cy="314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isolated, load-balanced container per work-driver — scales to ~800+ work-drivers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2353436"/>
            <a:ext cx="2179244" cy="1025983"/>
          </a:xfrm>
          <a:prstGeom prst="roundRect">
            <a:avLst>
              <a:gd name="adj" fmla="val 4456"/>
            </a:avLst>
          </a:prstGeom>
          <a:solidFill>
            <a:srgbClr val="EDF6F7"/>
          </a:solidFill>
          <a:ln w="14605">
            <a:solidFill>
              <a:srgbClr val="158A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371724"/>
            <a:ext cx="2179244" cy="410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OTC · PCM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2331720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2861672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&amp; Match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3391624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3921576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4547540" y="2353436"/>
            <a:ext cx="2179244" cy="1025983"/>
          </a:xfrm>
          <a:prstGeom prst="roundRect">
            <a:avLst>
              <a:gd name="adj" fmla="val 4456"/>
            </a:avLst>
          </a:prstGeom>
          <a:solidFill>
            <a:srgbClr val="EDF6F7"/>
          </a:solidFill>
          <a:ln w="14605">
            <a:solidFill>
              <a:srgbClr val="158A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7540" y="2371724"/>
            <a:ext cx="2179244" cy="410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FX · PCM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4593260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123212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&amp; Match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5653164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6183116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809080" y="2353436"/>
            <a:ext cx="2179244" cy="1025983"/>
          </a:xfrm>
          <a:prstGeom prst="roundRect">
            <a:avLst>
              <a:gd name="adj" fmla="val 4456"/>
            </a:avLst>
          </a:prstGeom>
          <a:solidFill>
            <a:srgbClr val="EDF6F7"/>
          </a:solidFill>
          <a:ln w="14605">
            <a:solidFill>
              <a:srgbClr val="158A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9080" y="2371724"/>
            <a:ext cx="2179244" cy="410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Set · LOS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6854800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7384752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&amp; Match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7914704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8444655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9070619" y="2353436"/>
            <a:ext cx="2179244" cy="1025983"/>
          </a:xfrm>
          <a:prstGeom prst="roundRect">
            <a:avLst>
              <a:gd name="adj" fmla="val 4456"/>
            </a:avLst>
          </a:prstGeom>
          <a:solidFill>
            <a:srgbClr val="EDF6F7"/>
          </a:solidFill>
          <a:ln w="14605">
            <a:solidFill>
              <a:srgbClr val="158A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70619" y="2371724"/>
            <a:ext cx="2179244" cy="410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· MIS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9116339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9646291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&amp; Match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10176243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10706195" y="2772973"/>
            <a:ext cx="497948" cy="560726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9525">
            <a:solidFill>
              <a:srgbClr val="158A9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840" b="1" dirty="0">
                <a:solidFill>
                  <a:srgbClr val="0E6B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11332159" y="2353436"/>
            <a:ext cx="481889" cy="1025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20" b="1" dirty="0">
                <a:solidFill>
                  <a:srgbClr val="158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•••</a:t>
            </a:r>
            <a:endParaRPr lang="en-US" sz="2020" dirty="0"/>
          </a:p>
        </p:txBody>
      </p:sp>
      <p:sp>
        <p:nvSpPr>
          <p:cNvPr id="42" name="Text 40"/>
          <p:cNvSpPr/>
          <p:nvPr/>
        </p:nvSpPr>
        <p:spPr>
          <a:xfrm>
            <a:off x="2286000" y="3379419"/>
            <a:ext cx="9528048" cy="314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capabilities plug into each container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84048" y="3714407"/>
            <a:ext cx="11430000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734981"/>
            <a:ext cx="1828800" cy="123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 STACK / MARKETPLACE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286000" y="3734981"/>
            <a:ext cx="2299716" cy="910570"/>
          </a:xfrm>
          <a:prstGeom prst="roundRect">
            <a:avLst>
              <a:gd name="adj" fmla="val 502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</a:t>
            </a:r>
            <a:endParaRPr lang="en-US" sz="84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3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Unstructured → Structured: body + Excel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4695444" y="3734981"/>
            <a:ext cx="2299716" cy="910570"/>
          </a:xfrm>
          <a:prstGeom prst="roundRect">
            <a:avLst>
              <a:gd name="adj" fmla="val 502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&amp; Match — × N instances</a:t>
            </a:r>
            <a:endParaRPr lang="en-US" sz="118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3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PCM, LOS, Confirmation …</a:t>
            </a:r>
            <a:endParaRPr lang="en-US" sz="1180" dirty="0"/>
          </a:p>
        </p:txBody>
      </p:sp>
      <p:sp>
        <p:nvSpPr>
          <p:cNvPr id="47" name="Text 45"/>
          <p:cNvSpPr/>
          <p:nvPr/>
        </p:nvSpPr>
        <p:spPr>
          <a:xfrm>
            <a:off x="7104888" y="3734981"/>
            <a:ext cx="2299716" cy="910570"/>
          </a:xfrm>
          <a:prstGeom prst="roundRect">
            <a:avLst>
              <a:gd name="adj" fmla="val 502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180" dirty="0"/>
          </a:p>
        </p:txBody>
      </p:sp>
      <p:sp>
        <p:nvSpPr>
          <p:cNvPr id="48" name="Text 46"/>
          <p:cNvSpPr/>
          <p:nvPr/>
        </p:nvSpPr>
        <p:spPr>
          <a:xfrm>
            <a:off x="9514332" y="3734981"/>
            <a:ext cx="2299716" cy="910570"/>
          </a:xfrm>
          <a:prstGeom prst="roundRect">
            <a:avLst>
              <a:gd name="adj" fmla="val 502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/ MIS</a:t>
            </a:r>
            <a:endParaRPr lang="en-US" sz="1180" dirty="0"/>
          </a:p>
        </p:txBody>
      </p:sp>
      <p:sp>
        <p:nvSpPr>
          <p:cNvPr id="49" name="Text 47"/>
          <p:cNvSpPr/>
          <p:nvPr/>
        </p:nvSpPr>
        <p:spPr>
          <a:xfrm>
            <a:off x="2286000" y="4645551"/>
            <a:ext cx="9528048" cy="319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capabilities from a Capability Marketplace — configured per work-driver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84048" y="4986055"/>
            <a:ext cx="11430000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35858" y="5015773"/>
            <a:ext cx="0" cy="342376"/>
          </a:xfrm>
          <a:prstGeom prst="line">
            <a:avLst/>
          </a:prstGeom>
          <a:noFill/>
          <a:ln w="12700">
            <a:solidFill>
              <a:srgbClr val="6D3FC4"/>
            </a:solidFill>
            <a:prstDash val="dash"/>
            <a:headEnd type="triangl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845302" y="5015773"/>
            <a:ext cx="0" cy="342376"/>
          </a:xfrm>
          <a:prstGeom prst="line">
            <a:avLst/>
          </a:prstGeom>
          <a:noFill/>
          <a:ln w="12700">
            <a:solidFill>
              <a:srgbClr val="6D3FC4"/>
            </a:solidFill>
            <a:prstDash val="dash"/>
            <a:headEnd type="triangl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254746" y="5015773"/>
            <a:ext cx="0" cy="342376"/>
          </a:xfrm>
          <a:prstGeom prst="line">
            <a:avLst/>
          </a:prstGeom>
          <a:noFill/>
          <a:ln w="12700">
            <a:solidFill>
              <a:srgbClr val="6D3FC4"/>
            </a:solidFill>
            <a:prstDash val="dash"/>
            <a:headEnd type="triangl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10664190" y="5015773"/>
            <a:ext cx="0" cy="342376"/>
          </a:xfrm>
          <a:prstGeom prst="line">
            <a:avLst/>
          </a:prstGeom>
          <a:noFill/>
          <a:ln w="12700">
            <a:solidFill>
              <a:srgbClr val="6D3FC4"/>
            </a:solidFill>
            <a:prstDash val="dash"/>
            <a:headEnd type="triangl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84048" y="5387867"/>
            <a:ext cx="11430000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5408441"/>
            <a:ext cx="1828800" cy="76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5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SERVICES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2286000" y="5408441"/>
            <a:ext cx="2299716" cy="763759"/>
          </a:xfrm>
          <a:prstGeom prst="roundRect">
            <a:avLst>
              <a:gd name="adj" fmla="val 5986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Assist Skill Kit (NASK) skills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4695444" y="5408441"/>
            <a:ext cx="2299716" cy="763759"/>
          </a:xfrm>
          <a:prstGeom prst="roundRect">
            <a:avLst>
              <a:gd name="adj" fmla="val 5986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Chinou API (LLM)</a:t>
            </a:r>
            <a:endParaRPr lang="en-US" sz="840" dirty="0"/>
          </a:p>
        </p:txBody>
      </p:sp>
      <p:sp>
        <p:nvSpPr>
          <p:cNvPr id="59" name="Text 57"/>
          <p:cNvSpPr/>
          <p:nvPr/>
        </p:nvSpPr>
        <p:spPr>
          <a:xfrm>
            <a:off x="7104888" y="5408441"/>
            <a:ext cx="2299716" cy="763759"/>
          </a:xfrm>
          <a:prstGeom prst="roundRect">
            <a:avLst>
              <a:gd name="adj" fmla="val 5986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matching: Deterministic + Fuzzy + Policy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9514332" y="5408441"/>
            <a:ext cx="2299716" cy="763759"/>
          </a:xfrm>
          <a:prstGeom prst="roundRect">
            <a:avLst>
              <a:gd name="adj" fmla="val 5986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4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118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+ Grounding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384048" y="6291072"/>
            <a:ext cx="11430000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12294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62910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</a:t>
            </a:r>
            <a:pPr algn="l" indent="0" marL="0">
              <a:buNone/>
            </a:pPr>
            <a:r>
              <a:rPr lang="en-US" sz="1050" b="1" dirty="0">
                <a:solidFill>
                  <a:srgbClr val="8FD1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664208" y="6291072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D9E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 Now Platform — Flow Designer (orchestration)   •   IntegrationHub   •   Decision Tables   •   UI Builder   •   Scoped App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" y="91440"/>
            <a:ext cx="11951208" cy="667512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55448"/>
            <a:ext cx="1164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Humans, Feedback, Memory &amp; Governance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4048" y="640080"/>
            <a:ext cx="1828800" cy="1154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80" b="1" spc="30" kern="0" dirty="0">
                <a:solidFill>
                  <a:srgbClr val="C174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 &amp; WORKSPACES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2286000" y="640080"/>
            <a:ext cx="2730782" cy="1154307"/>
          </a:xfrm>
          <a:prstGeom prst="roundRect">
            <a:avLst>
              <a:gd name="adj" fmla="val 3961"/>
            </a:avLst>
          </a:prstGeom>
          <a:solidFill>
            <a:srgbClr val="FDF4E8"/>
          </a:solidFill>
          <a:ln w="13970">
            <a:solidFill>
              <a:srgbClr val="E0891E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B16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Assignment</a:t>
            </a:r>
            <a:endParaRPr lang="en-US" sz="122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— per-profile queues: OTC vs ADM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5099078" y="1217234"/>
            <a:ext cx="351130" cy="0"/>
          </a:xfrm>
          <a:prstGeom prst="line">
            <a:avLst/>
          </a:prstGeom>
          <a:noFill/>
          <a:ln w="14605">
            <a:solidFill>
              <a:srgbClr val="E0891E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532504" y="640080"/>
            <a:ext cx="2403088" cy="1154307"/>
          </a:xfrm>
          <a:prstGeom prst="roundRect">
            <a:avLst>
              <a:gd name="adj" fmla="val 3961"/>
            </a:avLst>
          </a:prstGeom>
          <a:solidFill>
            <a:srgbClr val="FDF4E8"/>
          </a:solidFill>
          <a:ln w="13970">
            <a:solidFill>
              <a:srgbClr val="E0891E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B16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Confirmation + Write-back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8017888" y="640080"/>
            <a:ext cx="1856932" cy="1154307"/>
          </a:xfrm>
          <a:prstGeom prst="roundRect">
            <a:avLst>
              <a:gd name="adj" fmla="val 396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Dashboard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957116" y="640080"/>
            <a:ext cx="1856932" cy="1154307"/>
          </a:xfrm>
          <a:prstGeom prst="roundRect">
            <a:avLst>
              <a:gd name="adj" fmla="val 3961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/ Config Panel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384048" y="1814961"/>
            <a:ext cx="11430000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35535"/>
            <a:ext cx="1828800" cy="1558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8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&amp; CONTINUOUS LEARNING</a:t>
            </a:r>
            <a:endParaRPr lang="en-US" sz="118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FR-AUD-004 · FR-AUD-009 · FR-AIQ-010/011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2286000" y="1835535"/>
            <a:ext cx="1842773" cy="1558315"/>
          </a:xfrm>
          <a:prstGeom prst="roundRect">
            <a:avLst>
              <a:gd name="adj" fmla="val 2934"/>
            </a:avLst>
          </a:prstGeom>
          <a:solidFill>
            <a:srgbClr val="FDF4E8"/>
          </a:solidFill>
          <a:ln w="13970">
            <a:solidFill>
              <a:srgbClr val="E0891E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B165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Overrides Captured</a:t>
            </a:r>
            <a:endParaRPr lang="en-US" sz="122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· AI Value · Actual Value · Reason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174493" y="2614692"/>
            <a:ext cx="351130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571342" y="1835535"/>
            <a:ext cx="2303466" cy="1558315"/>
          </a:xfrm>
          <a:prstGeom prst="roundRect">
            <a:avLst>
              <a:gd name="adj" fmla="val 2934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/ Drift Monitor</a:t>
            </a:r>
            <a:endParaRPr lang="en-US" sz="122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override-rate spikes · confidence drop · accuracy by counterparty/product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920529" y="2614692"/>
            <a:ext cx="351130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317378" y="1835535"/>
            <a:ext cx="2027050" cy="1558315"/>
          </a:xfrm>
          <a:prstGeom prst="roundRect">
            <a:avLst>
              <a:gd name="adj" fmla="val 2934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Surfaced to Manager Dashboard &amp; Admin</a:t>
            </a:r>
            <a:endParaRPr lang="en-US" sz="122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degradation = signal to investigate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390148" y="2614692"/>
            <a:ext cx="351130" cy="0"/>
          </a:xfrm>
          <a:prstGeom prst="line">
            <a:avLst/>
          </a:prstGeom>
          <a:noFill/>
          <a:ln w="14605">
            <a:solidFill>
              <a:srgbClr val="1C3F8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786998" y="1835535"/>
            <a:ext cx="2027050" cy="1558315"/>
          </a:xfrm>
          <a:prstGeom prst="roundRect">
            <a:avLst>
              <a:gd name="adj" fmla="val 2934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60" b="1" dirty="0">
                <a:solidFill>
                  <a:srgbClr val="FFFFFF"/>
                </a:solidFill>
                <a:highlight>
                  <a:srgbClr val="6D3FC4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 AI </a:t>
            </a:r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&amp; Threshold Tuning</a:t>
            </a:r>
            <a:endParaRPr lang="en-US" sz="86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 extraction prompts, confidence &amp; tolerances (Admin-gated)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2944368" y="3444142"/>
            <a:ext cx="0" cy="328004"/>
          </a:xfrm>
          <a:prstGeom prst="line">
            <a:avLst/>
          </a:prstGeom>
          <a:noFill/>
          <a:ln w="13970">
            <a:solidFill>
              <a:srgbClr val="2E8B57"/>
            </a:solidFill>
            <a:prstDash val="sysDot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84048" y="3822438"/>
            <a:ext cx="1828800" cy="1500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8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&amp; LEARNING</a:t>
            </a:r>
            <a:endParaRPr lang="en-US" sz="118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(Cross-cutting)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2286000" y="3822438"/>
            <a:ext cx="1832458" cy="1500599"/>
          </a:xfrm>
          <a:prstGeom prst="roundRect">
            <a:avLst>
              <a:gd name="adj" fmla="val 3047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/ Case Memory</a:t>
            </a:r>
            <a:endParaRPr lang="en-US" sz="122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 · source snippets · confidence · match result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209898" y="3822438"/>
            <a:ext cx="1832458" cy="1500599"/>
          </a:xfrm>
          <a:prstGeom prst="roundRect">
            <a:avLst>
              <a:gd name="adj" fmla="val 3047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 / Feedback Memory</a:t>
            </a:r>
            <a:endParaRPr lang="en-US" sz="122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overrides per counterparty/product → few-shot + tuning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133795" y="3822438"/>
            <a:ext cx="1832458" cy="1500599"/>
          </a:xfrm>
          <a:prstGeom prst="roundRect">
            <a:avLst>
              <a:gd name="adj" fmla="val 3047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/ Counterparty Memory</a:t>
            </a:r>
            <a:endParaRPr lang="en-US" sz="122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 directory · known SSIs · per-CP formats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057693" y="3822438"/>
            <a:ext cx="1832458" cy="1500599"/>
          </a:xfrm>
          <a:prstGeom prst="roundRect">
            <a:avLst>
              <a:gd name="adj" fmla="val 3047"/>
            </a:avLst>
          </a:prstGeom>
          <a:solidFill>
            <a:srgbClr val="F1F8F3"/>
          </a:solidFill>
          <a:ln w="13970">
            <a:solidFill>
              <a:srgbClr val="2E8B57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1F7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/ Config Memory (versioned)</a:t>
            </a:r>
            <a:endParaRPr lang="en-US" sz="122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prompts · schemas · tolerances · versions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981590" y="3822438"/>
            <a:ext cx="1832458" cy="1500599"/>
          </a:xfrm>
          <a:prstGeom prst="roundRect">
            <a:avLst>
              <a:gd name="adj" fmla="val 3047"/>
            </a:avLst>
          </a:prstGeom>
          <a:solidFill>
            <a:srgbClr val="F4F0FC"/>
          </a:solidFill>
          <a:ln w="13970">
            <a:solidFill>
              <a:srgbClr val="6D3FC4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20" b="1" dirty="0">
                <a:solidFill>
                  <a:srgbClr val="57289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/ Retrieval Memory (RAG)</a:t>
            </a:r>
            <a:endParaRPr lang="en-US" sz="122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960" dirty="0">
                <a:solidFill>
                  <a:srgbClr val="6C7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embeddings of past emails + golden examples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384048" y="5343611"/>
            <a:ext cx="11430000" cy="0"/>
          </a:xfrm>
          <a:prstGeom prst="line">
            <a:avLst/>
          </a:prstGeom>
          <a:noFill/>
          <a:ln w="9525">
            <a:solidFill>
              <a:srgbClr val="E5EA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5364185"/>
            <a:ext cx="1828800" cy="80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80" b="1" spc="30" kern="0" dirty="0">
                <a:solidFill>
                  <a:srgbClr val="1C3F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2286000" y="5607258"/>
            <a:ext cx="321869" cy="321869"/>
          </a:xfrm>
          <a:prstGeom prst="ellipse">
            <a:avLst/>
          </a:prstGeom>
          <a:solidFill>
            <a:srgbClr val="2E8B57"/>
          </a:solidFill>
          <a:ln w="9525">
            <a:solidFill>
              <a:srgbClr val="2E8B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90" dirty="0"/>
          </a:p>
        </p:txBody>
      </p:sp>
      <p:sp>
        <p:nvSpPr>
          <p:cNvPr id="29" name="Text 27"/>
          <p:cNvSpPr/>
          <p:nvPr/>
        </p:nvSpPr>
        <p:spPr>
          <a:xfrm>
            <a:off x="2690165" y="5364185"/>
            <a:ext cx="3651274" cy="80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Append-only Audit Trail (no-drop reconciliation)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601567" y="5607258"/>
            <a:ext cx="167372" cy="193121"/>
          </a:xfrm>
          <a:prstGeom prst="ellipse">
            <a:avLst/>
          </a:prstGeom>
          <a:ln w="17780">
            <a:solidFill>
              <a:srgbClr val="1C3F8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43631" y="5729568"/>
            <a:ext cx="283245" cy="180247"/>
          </a:xfrm>
          <a:prstGeom prst="roundRect">
            <a:avLst>
              <a:gd name="adj" fmla="val 10146"/>
            </a:avLst>
          </a:prstGeom>
          <a:solidFill>
            <a:srgbClr val="1C3F8F"/>
          </a:solidFill>
          <a:ln w="9525">
            <a:solidFill>
              <a:srgbClr val="1C3F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28484" y="5364185"/>
            <a:ext cx="1698655" cy="80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/ SSO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8810019" y="5665195"/>
            <a:ext cx="321869" cy="205996"/>
          </a:xfrm>
          <a:prstGeom prst="ellipse">
            <a:avLst/>
          </a:prstGeom>
          <a:ln w="17780">
            <a:solidFill>
              <a:srgbClr val="1C3F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19455" y="5716694"/>
            <a:ext cx="102998" cy="102998"/>
          </a:xfrm>
          <a:prstGeom prst="ellipse">
            <a:avLst/>
          </a:prstGeom>
          <a:solidFill>
            <a:srgbClr val="1C3F8F"/>
          </a:solidFill>
          <a:ln w="6350">
            <a:solidFill>
              <a:srgbClr val="1C3F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14184" y="5364185"/>
            <a:ext cx="2599864" cy="808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0" b="1" dirty="0">
                <a:solidFill>
                  <a:srgbClr val="2231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 / load metrics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384048" y="6291072"/>
            <a:ext cx="11430000" cy="384048"/>
          </a:xfrm>
          <a:prstGeom prst="roundRect">
            <a:avLst>
              <a:gd name="adj" fmla="val 14286"/>
            </a:avLst>
          </a:prstGeom>
          <a:solidFill>
            <a:srgbClr val="12294F"/>
          </a:solidFill>
          <a:ln w="9525">
            <a:solidFill>
              <a:srgbClr val="1229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2910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</a:t>
            </a:r>
            <a:pPr algn="l" indent="0" marL="0">
              <a:buNone/>
            </a:pPr>
            <a:r>
              <a:rPr lang="en-US" sz="1050" b="1" dirty="0">
                <a:solidFill>
                  <a:srgbClr val="8FD1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664208" y="6291072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D9E3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 Now Platform — Flow Designer (orchestration)   •   IntegrationHub   •   Decision Tables   •   UI Builder   •   Scoped App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Names and Forms — Solution Architecture</dc:title>
  <dc:subject>PptxGenJS Presentation</dc:subject>
  <dc:creator>Names and Forms</dc:creator>
  <cp:lastModifiedBy>Names and Forms</cp:lastModifiedBy>
  <cp:revision>1</cp:revision>
  <dcterms:created xsi:type="dcterms:W3CDTF">2026-09-02T18:42:16Z</dcterms:created>
  <dcterms:modified xsi:type="dcterms:W3CDTF">2026-09-02T18:42:16Z</dcterms:modified>
</cp:coreProperties>
</file>